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5143500" cx="9144000"/>
  <p:notesSz cx="6858000" cy="9144000"/>
  <p:embeddedFontLst>
    <p:embeddedFont>
      <p:font typeface="Play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Play-bold.fntdata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3c713d2f3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3c713d2f3_2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3c713d2f3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3c713d2f3_2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3c713d2f3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3c713d2f3_2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3c713d2f3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3c713d2f3_2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3c713d2f3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3c713d2f3_2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3c713d2f3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3c713d2f3_2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3c713d2f3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d3c713d2f3_2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3c713d2f3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d3c713d2f3_2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3c713d2f3_2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d3c713d2f3_2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3c713d2f3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d3c713d2f3_2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3c713d2f3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d3c713d2f3_2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3c713d2f3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d3c713d2f3_2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3c713d2f3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d3c713d2f3_2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3c713d2f3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d3c713d2f3_2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3c713d2f3_2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d3c713d2f3_2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3c713d2f3_2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d3c713d2f3_2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d3c713d2f3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d3c713d2f3_2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3c713d2f3_2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d3c713d2f3_2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3c713d2f3_2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d3c713d2f3_2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d3c713d2f3_2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d3c713d2f3_2_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d3c713d2f3_2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d3c713d2f3_2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d3c713d2f3_2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d3c713d2f3_2_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d3c713d2f3_2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d3c713d2f3_2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3c713d2f3_2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d3c713d2f3_2_3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d3c713d2f3_2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d3c713d2f3_2_3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d3c713d2f3_2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d3c713d2f3_2_3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d3c713d2f3_2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3d3c713d2f3_2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d3c713d2f3_2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d3c713d2f3_2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d3c713d2f3_2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d3c713d2f3_2_3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d3c713d2f3_2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d3c713d2f3_2_3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d3c713d2f3_2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3d3c713d2f3_2_3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d3c713d2f3_2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d3c713d2f3_2_3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d3c713d2f3_2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g3d3c713d2f3_2_3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d3c713d2f3_2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d3c713d2f3_2_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d3c713d2f3_2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d3c713d2f3_2_4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d3c713d2f3_2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g3d3c713d2f3_2_4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d3c713d2f3_2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g3d3c713d2f3_2_4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d3c713d2f3_2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g3d3c713d2f3_2_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d3c713d2f3_2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g3d3c713d2f3_2_4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d3c713d2f3_2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g3d3c713d2f3_2_4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d3c713d2f3_2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g3d3c713d2f3_2_4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d3c713d2f3_2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g3d3c713d2f3_2_4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d3c713d2f3_2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g3d3c713d2f3_2_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d3c713d2f3_2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g3d3c713d2f3_2_4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d3c713d2f3_2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g3d3c713d2f3_2_4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d3c713d2f3_2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g3d3c713d2f3_2_5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d3c713d2f3_2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d3c713d2f3_2_5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d3c713d2f3_2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g3d3c713d2f3_2_5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d3c713d2f3_2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g3d3c713d2f3_2_5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d3c713d2f3_2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g3d3c713d2f3_2_5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d3c713d2f3_2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g3d3c713d2f3_2_5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d3c713d2f3_2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g3d3c713d2f3_2_5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d3c713d2f3_2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g3d3c713d2f3_2_6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d3c713d2f3_2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g3d3c713d2f3_2_6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d3c713d2f3_2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g3d3c713d2f3_2_6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d3c713d2f3_2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g3d3c713d2f3_2_6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d3c713d2f3_2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g3d3c713d2f3_2_6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ctrTitle"/>
          </p:nvPr>
        </p:nvSpPr>
        <p:spPr>
          <a:xfrm>
            <a:off x="514350" y="1597819"/>
            <a:ext cx="58293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subTitle"/>
          </p:nvPr>
        </p:nvSpPr>
        <p:spPr>
          <a:xfrm>
            <a:off x="1028700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541735" y="3305175"/>
            <a:ext cx="58293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541735" y="2180035"/>
            <a:ext cx="58293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34290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348615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342900" y="1151335"/>
            <a:ext cx="30300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342900" y="1631156"/>
            <a:ext cx="30300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0" name="Google Shape;90;p20"/>
          <p:cNvSpPr txBox="1"/>
          <p:nvPr>
            <p:ph idx="3" type="body"/>
          </p:nvPr>
        </p:nvSpPr>
        <p:spPr>
          <a:xfrm>
            <a:off x="3483769" y="1151335"/>
            <a:ext cx="30312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20"/>
          <p:cNvSpPr txBox="1"/>
          <p:nvPr>
            <p:ph idx="4" type="body"/>
          </p:nvPr>
        </p:nvSpPr>
        <p:spPr>
          <a:xfrm>
            <a:off x="3483769" y="1631156"/>
            <a:ext cx="30312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20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342900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2681288" y="204788"/>
            <a:ext cx="3833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342900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1344216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3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1344216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 rot="5400000">
            <a:off x="1731750" y="-188700"/>
            <a:ext cx="33945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 rot="5400000">
            <a:off x="3549300" y="1628879"/>
            <a:ext cx="43887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 rot="5400000">
            <a:off x="406050" y="142978"/>
            <a:ext cx="4388700" cy="4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7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3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rvidl.github.io/AI-og-helse" TargetMode="External"/><Relationship Id="rId4" Type="http://schemas.openxmlformats.org/officeDocument/2006/relationships/image" Target="../media/image13.jpg"/><Relationship Id="rId5" Type="http://schemas.openxmlformats.org/officeDocument/2006/relationships/hyperlink" Target="https://github.com/arvidl/AI-og-helse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lab.research.google.com/github/arvidl/AI-og-helse/blob/main/uke01-introduksjon/02-hva-er-ai.ipynb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lab.research.google.com/github/arvidl/AI-og-helse/blob/main/uke01-introduksjon/05-regelbaserte-systemer.ipynb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olab.research.google.com/github/arvidl/AI-og-helse/blob/main/uke01-introduksjon/04-ai-ml-dl-forskjeller.ipynb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lab.research.google.com/github/arvidl/AI-og-helse/blob/main/uke02-klassisk-ml/01-klassisk-ml-101.ipynb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olab.research.google.com/github/arvidl/AI-og-helse/blob/main/uke03-dypl%C3%A6ring/02a_cnn_bildeklassifikasjon.ipynb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colab.research.google.com/github/arvidl/AI-og-helse/blob/main/uke03-dypl%C3%A6ring/01a_nn_intro.ipynb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hyperlink" Target="https://colab.research.google.com/github/arvidl/AI-og-helse/blob/main/uke04-generativ-ai/03_prompt_engineering.ipynb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olab.research.google.com/github/arvidl/AI-og-helse/blob/main/uke03-dypl%C3%A6ring/03_medisinsk_bildeklassifikasjon_MR.ipynb" TargetMode="External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olab.research.google.com/github/arvidl/AI-og-helse/blob/main/uke06-klinisk-praksis/01_risikomodell_logistisk_regresjon_kalibrering_shap.ipynb" TargetMode="External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colab.research.google.com/github/arvidl/AI-og-helse/blob/main/uke04-generativ-ai/04_chatgpt_claude_api.ipynb" TargetMode="External"/><Relationship Id="rId5" Type="http://schemas.openxmlformats.org/officeDocument/2006/relationships/hyperlink" Target="https://colab.research.google.com/github/arvidl/AI-og-helse/blob/main/intro_openai_anthropic.ipynb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olab.research.google.com/github/arvidl/AI-og-helse/blob/main/uke07-velferdsteknologi/03_beslutningsst%C3%B8tte_i_hjem_og_omsorg.ipynb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colab.research.google.com/github/arvidl/AI-og-helse/blob/main/uke07-velferdsteknologi/02_sensorer_aktivitet_og_hendelsesforst%C3%A5else.ipynb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olab.research.google.com/github/arvidl/AI-og-helse/blob/main/uke04-generativ-ai/04_chatgpt_claude_api.ipynb" TargetMode="External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olab.research.google.com/github/arvidl/AI-og-helse/blob/main/uke01-introduksjon/02-hva-er-ai.ipynb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colab.research.google.com/github/arvidl/AI-og-helse/blob/main/uke08-etikk-implementering/05_trustworthy_ai_i_helse.ipynb" TargetMode="External"/><Relationship Id="rId5" Type="http://schemas.openxmlformats.org/officeDocument/2006/relationships/hyperlink" Target="https://colab.research.google.com/github/arvidl/AI-og-helse/blob/main/uke02-klassisk-ml/01-klassisk-ml-101.ipynb" TargetMode="External"/><Relationship Id="rId6" Type="http://schemas.openxmlformats.org/officeDocument/2006/relationships/hyperlink" Target="https://colab.research.google.com/github/arvidl/AI-og-helse/blob/main/uke03-dypl%C3%A6ring/03_medisinsk_bildeklassifikasjon_MR.ipynb" TargetMode="External"/><Relationship Id="rId7" Type="http://schemas.openxmlformats.org/officeDocument/2006/relationships/hyperlink" Target="https://colab.research.google.com/github/arvidl/AI-og-helse/blob/main/uke04-generativ-ai/02_llm_grunnleggende.ipynb" TargetMode="External"/><Relationship Id="rId8" Type="http://schemas.openxmlformats.org/officeDocument/2006/relationships/hyperlink" Target="https://colab.research.google.com/github/arvidl/AI-og-helse/blob/main/uke06-klinisk-praksis/01_risikomodell_logistisk_regresjon_kalibrering_shap.ipynb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olab.research.google.com/github/arvidl/AI-og-helse/blob/main/uke03-dypl%C3%A6ring/03_medisinsk_bildeklassifikasjon_MR.ipynb" TargetMode="External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olab.research.google.com/github/arvidl/AI-og-helse/blob/main/uke06-klinisk-praksis/02_klinisk_beslutningsst%C3%B8tte_terskler_og_avveininger.ipynb" TargetMode="External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olab.research.google.com/github/arvidl/AI-og-helse/blob/main/uke06-klinisk-praksis/01_risikomodell_logistisk_regresjon_kalibrering_shap.ipynb" TargetMode="External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olab.research.google.com/github/arvidl/AI-og-helse/blob/main/uke06-klinisk-praksis/03_validering_generalisering_og_subgrupper.ipynb" TargetMode="External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colab.research.google.com/github/arvidl/AI-og-helse/blob/main/uke08-etikk-implementering/02_bias_rettferdighet.ipynb" TargetMode="External"/><Relationship Id="rId4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colab.research.google.com/github/arvidl/AI-og-helse/blob/main/uke03-dypl%C3%A6ring/02c_cnn_testing.ipynb" TargetMode="External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colab.research.google.com/github/arvidl/AI-og-helse/blob/main/uke06-klinisk-praksis/04_fra_modell_til_klinisk_arbeidsflyt.ipynb" TargetMode="External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colab.research.google.com/github/arvidl/AI-og-helse/blob/main/uke08-etikk-implementering/01_gdpr_personvern.ipynb" TargetMode="External"/><Relationship Id="rId4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colab.research.google.com/github/arvidl/AI-og-helse/blob/main/uke08-etikk-implementering/04_ai_etikk_i_medisinen.ipynb" TargetMode="External"/><Relationship Id="rId4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colab.research.google.com/github/arvidl/AI-og-helse/blob/main/uke08-etikk-implementering/03_ce_mdr_regulering.ipynb" TargetMode="External"/><Relationship Id="rId4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colab.research.google.com/github/arvidl/AI-og-helse/blob/main/uke08-etikk-implementering/05_trustworthy_ai_i_helse.ipynb" TargetMode="External"/><Relationship Id="rId4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colab.research.google.com/github/arvidl/AI-og-helse/blob/main/uke04-generativ-ai/02_llm_grunnleggende.ipynb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colab.research.google.com/github/arvidl/AI-og-helse/blob/main/uke04-generativ-ai/04_chatgpt_claude_api.ipynb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0" Type="http://schemas.openxmlformats.org/officeDocument/2006/relationships/hyperlink" Target="https://colab.research.google.com/github/arvidl/AI-og-helse/blob/main/uke08-etikk-implementering/05_trustworthy_ai_i_helse.ipynb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github.com/arvidl/AI-og-helse/blob/main/README.md" TargetMode="External"/><Relationship Id="rId4" Type="http://schemas.openxmlformats.org/officeDocument/2006/relationships/hyperlink" Target="https://github.com/arvidl/AI-og-helse/blob/main/uke08-etikk-implementering/README.md" TargetMode="External"/><Relationship Id="rId9" Type="http://schemas.openxmlformats.org/officeDocument/2006/relationships/hyperlink" Target="https://colab.research.google.com/github/arvidl/AI-og-helse/blob/main/uke08-etikk-implementering/03_ce_mdr_regulering.ipynb" TargetMode="External"/><Relationship Id="rId5" Type="http://schemas.openxmlformats.org/officeDocument/2006/relationships/hyperlink" Target="https://colab.research.google.com/github/arvidl/AI-og-helse/blob/main/uke06-klinisk-praksis/02_klinisk_beslutningsst%C3%B8tte_terskler_og_avveininger.ipynb" TargetMode="External"/><Relationship Id="rId6" Type="http://schemas.openxmlformats.org/officeDocument/2006/relationships/image" Target="../media/image1.png"/><Relationship Id="rId7" Type="http://schemas.openxmlformats.org/officeDocument/2006/relationships/hyperlink" Target="https://colab.research.google.com/github/arvidl/AI-og-helse/blob/main/uke08-etikk-implementering/02_bias_rettferdighet.ipynb" TargetMode="External"/><Relationship Id="rId8" Type="http://schemas.openxmlformats.org/officeDocument/2006/relationships/hyperlink" Target="https://colab.research.google.com/github/arvidl/AI-og-helse/blob/main/uke08-etikk-implementering/01_gdpr_personvern.ipynb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colab.research.google.com/github/arvidl/AI-og-helse/blob/main/uke04-generativ-ai/04_chatgpt_claude_api.ipynb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colab.research.google.com/github/arvidl/AI-og-helse/blob/main/intro_openai_anthropic.ipynb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github.com/arvidl/AI-og-helse/blob/main/README.md" TargetMode="External"/><Relationship Id="rId4" Type="http://schemas.openxmlformats.org/officeDocument/2006/relationships/hyperlink" Target="https://github.com/arvidl/AI-og-helse/blob/main/uke04-generativ-ai/README.md" TargetMode="External"/><Relationship Id="rId5" Type="http://schemas.openxmlformats.org/officeDocument/2006/relationships/hyperlink" Target="https://github.com/arvidl/AI-og-helse/blob/main/uke06-klinisk-praksis/README.md" TargetMode="External"/><Relationship Id="rId6" Type="http://schemas.openxmlformats.org/officeDocument/2006/relationships/hyperlink" Target="https://github.com/arvidl/AI-og-helse/blob/main/uke08-etikk-implementering/README.md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arvidl.github.io/AI-og-helse/" TargetMode="External"/><Relationship Id="rId4" Type="http://schemas.openxmlformats.org/officeDocument/2006/relationships/hyperlink" Target="https://arvidl.github.io/AI-og-helse/for-undervisere.html" TargetMode="External"/><Relationship Id="rId5" Type="http://schemas.openxmlformats.org/officeDocument/2006/relationships/hyperlink" Target="https://arvidl.github.io/AI-og-helse/ressurser.html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arvidl.github.io/AI-og-helse" TargetMode="External"/><Relationship Id="rId4" Type="http://schemas.openxmlformats.org/officeDocument/2006/relationships/hyperlink" Target="https://github.com/arvidl/AI-og-hel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9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AI i helse: hva er nyttig, hva er hype, og hva må vi forstå?</a:t>
            </a:r>
            <a:endParaRPr b="1" sz="2405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4" name="Google Shape;144;p29"/>
          <p:cNvSpPr txBox="1"/>
          <p:nvPr/>
        </p:nvSpPr>
        <p:spPr>
          <a:xfrm>
            <a:off x="381000" y="952500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rPr>
              <a:t>To forelesningsøkter à 45 minutter for klinisk målgruppe med liten eller moderat teknisk bakgrunn.</a:t>
            </a:r>
            <a:endParaRPr b="0" sz="1600">
              <a:solidFill>
                <a:srgbClr val="1F1A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p29"/>
          <p:cNvGrpSpPr/>
          <p:nvPr/>
        </p:nvGrpSpPr>
        <p:grpSpPr>
          <a:xfrm>
            <a:off x="381000" y="2000250"/>
            <a:ext cx="5143500" cy="2476500"/>
            <a:chOff x="381000" y="2000250"/>
            <a:chExt cx="5143500" cy="2476500"/>
          </a:xfrm>
        </p:grpSpPr>
        <p:sp>
          <p:nvSpPr>
            <p:cNvPr id="146" name="Google Shape;146;p29"/>
            <p:cNvSpPr/>
            <p:nvPr/>
          </p:nvSpPr>
          <p:spPr>
            <a:xfrm>
              <a:off x="381000" y="2000250"/>
              <a:ext cx="2476500" cy="24765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9"/>
            <p:cNvSpPr txBox="1"/>
            <p:nvPr/>
          </p:nvSpPr>
          <p:spPr>
            <a:xfrm>
              <a:off x="571500" y="21907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Målgruppe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Leger &amp; sykepleiere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Psykologer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Fysioterapeuter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Radiografer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Bioingeniører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</a:rPr>
                <a:t>…..</a:t>
              </a:r>
              <a:endParaRPr sz="1100">
                <a:solidFill>
                  <a:srgbClr val="5D524B"/>
                </a:solidFill>
              </a:endParaRPr>
            </a:p>
          </p:txBody>
        </p:sp>
        <p:sp>
          <p:nvSpPr>
            <p:cNvPr id="148" name="Google Shape;148;p29"/>
            <p:cNvSpPr/>
            <p:nvPr/>
          </p:nvSpPr>
          <p:spPr>
            <a:xfrm>
              <a:off x="3048000" y="2000250"/>
              <a:ext cx="2476500" cy="1143000"/>
            </a:xfrm>
            <a:prstGeom prst="roundRect">
              <a:avLst>
                <a:gd fmla="val 16666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9"/>
            <p:cNvSpPr txBox="1"/>
            <p:nvPr/>
          </p:nvSpPr>
          <p:spPr>
            <a:xfrm>
              <a:off x="3238500" y="21907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Format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2 x 45 minutter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9"/>
            <p:cNvSpPr/>
            <p:nvPr/>
          </p:nvSpPr>
          <p:spPr>
            <a:xfrm>
              <a:off x="3048000" y="3333750"/>
              <a:ext cx="2476500" cy="1143000"/>
            </a:xfrm>
            <a:prstGeom prst="roundRect">
              <a:avLst>
                <a:gd fmla="val 16666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9"/>
            <p:cNvSpPr txBox="1"/>
            <p:nvPr/>
          </p:nvSpPr>
          <p:spPr>
            <a:xfrm>
              <a:off x="3238500" y="3524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Utgangspunkt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Kurset </a:t>
              </a:r>
              <a:r>
                <a:rPr b="1" lang="en" sz="1100">
                  <a:solidFill>
                    <a:srgbClr val="0000FF"/>
                  </a:solidFill>
                  <a:uFill>
                    <a:noFill/>
                  </a:uFill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AI og Helse</a:t>
              </a:r>
              <a:endParaRPr b="1" sz="1100">
                <a:solidFill>
                  <a:srgbClr val="0000FF"/>
                </a:solidFill>
              </a:endParaRPr>
            </a:p>
          </p:txBody>
        </p:sp>
      </p:grpSp>
      <p:grpSp>
        <p:nvGrpSpPr>
          <p:cNvPr id="152" name="Google Shape;152;p29"/>
          <p:cNvGrpSpPr/>
          <p:nvPr/>
        </p:nvGrpSpPr>
        <p:grpSpPr>
          <a:xfrm>
            <a:off x="5762625" y="1285875"/>
            <a:ext cx="2762400" cy="2762400"/>
            <a:chOff x="5762625" y="1285875"/>
            <a:chExt cx="2762400" cy="2762400"/>
          </a:xfrm>
        </p:grpSpPr>
        <p:pic>
          <p:nvPicPr>
            <p:cNvPr descr="A modern, clean illustration representing artificial intelligence in healthcare, showing a digital stethoscope or a heartbeat wave integrated with binary code, in a purple and white color palette." id="153" name="Google Shape;153;p29"/>
            <p:cNvPicPr preferRelativeResize="0"/>
            <p:nvPr/>
          </p:nvPicPr>
          <p:blipFill rotWithShape="1">
            <a:blip r:embed="rId4">
              <a:alphaModFix/>
            </a:blip>
            <a:srcRect b="3332" l="3332" r="3332" t="3332"/>
            <a:stretch/>
          </p:blipFill>
          <p:spPr>
            <a:xfrm>
              <a:off x="5810250" y="1333500"/>
              <a:ext cx="2667000" cy="2667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54" name="Google Shape;154;p29"/>
            <p:cNvSpPr/>
            <p:nvPr/>
          </p:nvSpPr>
          <p:spPr>
            <a:xfrm>
              <a:off x="5762625" y="1285875"/>
              <a:ext cx="2762400" cy="2762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7D3C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29"/>
          <p:cNvSpPr txBox="1"/>
          <p:nvPr/>
        </p:nvSpPr>
        <p:spPr>
          <a:xfrm>
            <a:off x="381000" y="4667250"/>
            <a:ext cx="571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Basert på </a:t>
            </a:r>
            <a:r>
              <a:rPr b="1" lang="en" sz="1000">
                <a:solidFill>
                  <a:srgbClr val="0000FF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 og Helse</a:t>
            </a: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-repoet og tilhørende notebooks</a:t>
            </a:r>
            <a:endParaRPr b="1" sz="1000">
              <a:solidFill>
                <a:srgbClr val="5B2C6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8096250" y="4572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3C98"/>
                </a:solidFill>
                <a:latin typeface="Arial"/>
                <a:ea typeface="Arial"/>
                <a:cs typeface="Arial"/>
                <a:sym typeface="Arial"/>
              </a:rPr>
              <a:t>◎ ◇ ↗</a:t>
            </a:r>
            <a:endParaRPr sz="1400">
              <a:solidFill>
                <a:srgbClr val="7D3C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1737" y="472170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43774" y="3969840"/>
            <a:ext cx="1140875" cy="113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0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Innledning</a:t>
            </a:r>
            <a:endParaRPr sz="1100"/>
          </a:p>
        </p:txBody>
      </p:sp>
      <p:sp>
        <p:nvSpPr>
          <p:cNvPr id="165" name="Google Shape;165;p30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Hva dere skal sitte igjen med</a:t>
            </a:r>
            <a:endParaRPr sz="1100"/>
          </a:p>
        </p:txBody>
      </p:sp>
      <p:grpSp>
        <p:nvGrpSpPr>
          <p:cNvPr id="166" name="Google Shape;166;p30"/>
          <p:cNvGrpSpPr/>
          <p:nvPr/>
        </p:nvGrpSpPr>
        <p:grpSpPr>
          <a:xfrm>
            <a:off x="514350" y="1333500"/>
            <a:ext cx="8107590" cy="3048150"/>
            <a:chOff x="514350" y="1333500"/>
            <a:chExt cx="8107590" cy="3048150"/>
          </a:xfrm>
        </p:grpSpPr>
        <p:sp>
          <p:nvSpPr>
            <p:cNvPr id="167" name="Google Shape;167;p30"/>
            <p:cNvSpPr/>
            <p:nvPr/>
          </p:nvSpPr>
          <p:spPr>
            <a:xfrm>
              <a:off x="514350" y="1333500"/>
              <a:ext cx="39585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0"/>
            <p:cNvSpPr txBox="1"/>
            <p:nvPr/>
          </p:nvSpPr>
          <p:spPr>
            <a:xfrm>
              <a:off x="704850" y="15114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9" name="Google Shape;169;p30"/>
            <p:cNvSpPr txBox="1"/>
            <p:nvPr/>
          </p:nvSpPr>
          <p:spPr>
            <a:xfrm>
              <a:off x="704850" y="1905000"/>
              <a:ext cx="35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Et felles språk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Et språk for å snakke om AI i helse på en forståelig måte.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0"/>
            <p:cNvSpPr/>
            <p:nvPr/>
          </p:nvSpPr>
          <p:spPr>
            <a:xfrm>
              <a:off x="4663440" y="1333500"/>
              <a:ext cx="39585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0"/>
            <p:cNvSpPr txBox="1"/>
            <p:nvPr/>
          </p:nvSpPr>
          <p:spPr>
            <a:xfrm>
              <a:off x="4853940" y="15114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2" name="Google Shape;172;p30"/>
            <p:cNvSpPr txBox="1"/>
            <p:nvPr/>
          </p:nvSpPr>
          <p:spPr>
            <a:xfrm>
              <a:off x="4853940" y="1905000"/>
              <a:ext cx="35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Kritisk forståelse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En forståelse av hva AI er god og mindre god til i klinisk praksis.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0"/>
            <p:cNvSpPr/>
            <p:nvPr/>
          </p:nvSpPr>
          <p:spPr>
            <a:xfrm>
              <a:off x="514350" y="2952750"/>
              <a:ext cx="39585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0"/>
            <p:cNvSpPr txBox="1"/>
            <p:nvPr/>
          </p:nvSpPr>
          <p:spPr>
            <a:xfrm>
              <a:off x="704850" y="3130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5" name="Google Shape;175;p30"/>
            <p:cNvSpPr txBox="1"/>
            <p:nvPr/>
          </p:nvSpPr>
          <p:spPr>
            <a:xfrm>
              <a:off x="704850" y="3524250"/>
              <a:ext cx="35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Praktisk verktøykasse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Noen konkrete spørsmål å stille før man tar AI i bruk.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0"/>
            <p:cNvSpPr/>
            <p:nvPr/>
          </p:nvSpPr>
          <p:spPr>
            <a:xfrm>
              <a:off x="4663440" y="2952750"/>
              <a:ext cx="39585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0"/>
            <p:cNvSpPr txBox="1"/>
            <p:nvPr/>
          </p:nvSpPr>
          <p:spPr>
            <a:xfrm>
              <a:off x="4853940" y="3130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8" name="Google Shape;178;p30"/>
            <p:cNvSpPr txBox="1"/>
            <p:nvPr/>
          </p:nvSpPr>
          <p:spPr>
            <a:xfrm>
              <a:off x="4853940" y="3524250"/>
              <a:ext cx="35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Ansvar og risiko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En bedre forståelse av risiko, ansvar og klinisk nytte.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Innledning</a:t>
            </a:r>
            <a:endParaRPr sz="1100"/>
          </a:p>
        </p:txBody>
      </p:sp>
      <p:sp>
        <p:nvSpPr>
          <p:cNvPr id="185" name="Google Shape;185;p31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Hvorfor AI i helse er et viktig tema nå</a:t>
            </a:r>
            <a:endParaRPr sz="1100"/>
          </a:p>
        </p:txBody>
      </p:sp>
      <p:grpSp>
        <p:nvGrpSpPr>
          <p:cNvPr id="186" name="Google Shape;186;p31"/>
          <p:cNvGrpSpPr/>
          <p:nvPr/>
        </p:nvGrpSpPr>
        <p:grpSpPr>
          <a:xfrm>
            <a:off x="514350" y="1333500"/>
            <a:ext cx="8105700" cy="3048150"/>
            <a:chOff x="514350" y="1333500"/>
            <a:chExt cx="8105700" cy="3048150"/>
          </a:xfrm>
        </p:grpSpPr>
        <p:sp>
          <p:nvSpPr>
            <p:cNvPr id="187" name="Google Shape;187;p31"/>
            <p:cNvSpPr/>
            <p:nvPr/>
          </p:nvSpPr>
          <p:spPr>
            <a:xfrm>
              <a:off x="514350" y="1333500"/>
              <a:ext cx="39528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1"/>
            <p:cNvSpPr txBox="1"/>
            <p:nvPr/>
          </p:nvSpPr>
          <p:spPr>
            <a:xfrm>
              <a:off x="704850" y="15400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9" name="Google Shape;189;p31"/>
            <p:cNvSpPr txBox="1"/>
            <p:nvPr/>
          </p:nvSpPr>
          <p:spPr>
            <a:xfrm>
              <a:off x="704850" y="1905000"/>
              <a:ext cx="3571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Data i stor skala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Data, bilder, signaler og tekst finnes nå i enorme mengder.</a:t>
              </a:r>
              <a:endParaRPr b="0"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1"/>
            <p:cNvSpPr/>
            <p:nvPr/>
          </p:nvSpPr>
          <p:spPr>
            <a:xfrm>
              <a:off x="4667250" y="1333500"/>
              <a:ext cx="39528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31"/>
            <p:cNvSpPr txBox="1"/>
            <p:nvPr/>
          </p:nvSpPr>
          <p:spPr>
            <a:xfrm>
              <a:off x="4857750" y="15400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2" name="Google Shape;192;p31"/>
            <p:cNvSpPr txBox="1"/>
            <p:nvPr/>
          </p:nvSpPr>
          <p:spPr>
            <a:xfrm>
              <a:off x="4857750" y="1905000"/>
              <a:ext cx="3571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Presset hverdag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Arbeidshverdagen er i dag preget av høy kompleksitet og tidspress.</a:t>
              </a:r>
              <a:endParaRPr b="0"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1"/>
            <p:cNvSpPr/>
            <p:nvPr/>
          </p:nvSpPr>
          <p:spPr>
            <a:xfrm>
              <a:off x="514350" y="2952750"/>
              <a:ext cx="39528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1"/>
            <p:cNvSpPr txBox="1"/>
            <p:nvPr/>
          </p:nvSpPr>
          <p:spPr>
            <a:xfrm>
              <a:off x="704850" y="31592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5" name="Google Shape;195;p31"/>
            <p:cNvSpPr txBox="1"/>
            <p:nvPr/>
          </p:nvSpPr>
          <p:spPr>
            <a:xfrm>
              <a:off x="704850" y="3524250"/>
              <a:ext cx="3571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Bedre beslutninger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AI-verktøy lover økt effektivitet og støtte til kliniske beslutninger.</a:t>
              </a:r>
              <a:endParaRPr b="0"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31"/>
            <p:cNvSpPr/>
            <p:nvPr/>
          </p:nvSpPr>
          <p:spPr>
            <a:xfrm>
              <a:off x="4667250" y="2952750"/>
              <a:ext cx="39528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1"/>
            <p:cNvSpPr txBox="1"/>
            <p:nvPr/>
          </p:nvSpPr>
          <p:spPr>
            <a:xfrm>
              <a:off x="4857750" y="31592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8" name="Google Shape;198;p31"/>
            <p:cNvSpPr txBox="1"/>
            <p:nvPr/>
          </p:nvSpPr>
          <p:spPr>
            <a:xfrm>
              <a:off x="4857750" y="3524250"/>
              <a:ext cx="3571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Lav feiltoleranse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Helsefeltet tåler dårlig feil, og vi må unngå en falsk følelse av trygghet.</a:t>
              </a:r>
              <a:endParaRPr b="0"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2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Innledning</a:t>
            </a:r>
            <a:endParaRPr sz="1100"/>
          </a:p>
        </p:txBody>
      </p:sp>
      <p:sp>
        <p:nvSpPr>
          <p:cNvPr id="205" name="Google Shape;205;p32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Hvorfor AI i helse er vanskeligere enn i mange andre felt</a:t>
            </a:r>
            <a:endParaRPr sz="1100"/>
          </a:p>
        </p:txBody>
      </p:sp>
      <p:grpSp>
        <p:nvGrpSpPr>
          <p:cNvPr id="206" name="Google Shape;206;p32"/>
          <p:cNvGrpSpPr/>
          <p:nvPr/>
        </p:nvGrpSpPr>
        <p:grpSpPr>
          <a:xfrm>
            <a:off x="514350" y="1333500"/>
            <a:ext cx="8115225" cy="3048150"/>
            <a:chOff x="514350" y="1333500"/>
            <a:chExt cx="8115225" cy="3048150"/>
          </a:xfrm>
        </p:grpSpPr>
        <p:sp>
          <p:nvSpPr>
            <p:cNvPr id="207" name="Google Shape;207;p32"/>
            <p:cNvSpPr/>
            <p:nvPr/>
          </p:nvSpPr>
          <p:spPr>
            <a:xfrm>
              <a:off x="514350" y="1333500"/>
              <a:ext cx="39528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2"/>
            <p:cNvSpPr txBox="1"/>
            <p:nvPr/>
          </p:nvSpPr>
          <p:spPr>
            <a:xfrm>
              <a:off x="704850" y="15400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9" name="Google Shape;209;p32"/>
            <p:cNvSpPr txBox="1"/>
            <p:nvPr/>
          </p:nvSpPr>
          <p:spPr>
            <a:xfrm>
              <a:off x="704850" y="1905000"/>
              <a:ext cx="3571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Pasientsikkerhet og ansvar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Pasientsikkerhet og ansvar står helt sentralt i all bruk av AI i helse.</a:t>
              </a:r>
              <a:endParaRPr b="0"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2"/>
            <p:cNvSpPr/>
            <p:nvPr/>
          </p:nvSpPr>
          <p:spPr>
            <a:xfrm>
              <a:off x="4676775" y="1333500"/>
              <a:ext cx="39528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2"/>
            <p:cNvSpPr txBox="1"/>
            <p:nvPr/>
          </p:nvSpPr>
          <p:spPr>
            <a:xfrm>
              <a:off x="4867275" y="15400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2" name="Google Shape;212;p32"/>
            <p:cNvSpPr txBox="1"/>
            <p:nvPr/>
          </p:nvSpPr>
          <p:spPr>
            <a:xfrm>
              <a:off x="4867275" y="1905000"/>
              <a:ext cx="3571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Kontekst er avgjørende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Kontekst betyr mye mer enn i mange generelle AI-demoer.</a:t>
              </a:r>
              <a:endParaRPr b="0"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2"/>
            <p:cNvSpPr/>
            <p:nvPr/>
          </p:nvSpPr>
          <p:spPr>
            <a:xfrm>
              <a:off x="514350" y="2952750"/>
              <a:ext cx="39528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2"/>
            <p:cNvSpPr txBox="1"/>
            <p:nvPr/>
          </p:nvSpPr>
          <p:spPr>
            <a:xfrm>
              <a:off x="704850" y="31592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5" name="Google Shape;215;p32"/>
            <p:cNvSpPr txBox="1"/>
            <p:nvPr/>
          </p:nvSpPr>
          <p:spPr>
            <a:xfrm>
              <a:off x="704850" y="3524250"/>
              <a:ext cx="3571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Skjevheter og generalisering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Dette er klinisk viktige spørsmål som må adresseres direkte.</a:t>
              </a:r>
              <a:endParaRPr b="0"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2"/>
            <p:cNvSpPr/>
            <p:nvPr/>
          </p:nvSpPr>
          <p:spPr>
            <a:xfrm>
              <a:off x="4676775" y="2952750"/>
              <a:ext cx="39528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2"/>
            <p:cNvSpPr txBox="1"/>
            <p:nvPr/>
          </p:nvSpPr>
          <p:spPr>
            <a:xfrm>
              <a:off x="4867275" y="31592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8" name="Google Shape;218;p32"/>
            <p:cNvSpPr txBox="1"/>
            <p:nvPr/>
          </p:nvSpPr>
          <p:spPr>
            <a:xfrm>
              <a:off x="4867275" y="3524250"/>
              <a:ext cx="3571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Arial"/>
                  <a:ea typeface="Arial"/>
                  <a:cs typeface="Arial"/>
                  <a:sym typeface="Arial"/>
                </a:rPr>
                <a:t>Arbeidsflyt og implementering</a:t>
              </a:r>
              <a:endParaRPr b="1" sz="14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Det avgjør om teknologien faktisk fungerer i praksis.</a:t>
              </a:r>
              <a:endParaRPr b="0"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Innledning</a:t>
            </a:r>
            <a:endParaRPr sz="1100"/>
          </a:p>
        </p:txBody>
      </p:sp>
      <p:sp>
        <p:nvSpPr>
          <p:cNvPr id="225" name="Google Shape;225;p33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Et raskt startspørsmål til salen</a:t>
            </a:r>
            <a:endParaRPr sz="1100"/>
          </a:p>
        </p:txBody>
      </p:sp>
      <p:grpSp>
        <p:nvGrpSpPr>
          <p:cNvPr id="226" name="Google Shape;226;p33"/>
          <p:cNvGrpSpPr/>
          <p:nvPr/>
        </p:nvGrpSpPr>
        <p:grpSpPr>
          <a:xfrm>
            <a:off x="514350" y="1333500"/>
            <a:ext cx="8092500" cy="3189986"/>
            <a:chOff x="514350" y="1333500"/>
            <a:chExt cx="8092500" cy="3189986"/>
          </a:xfrm>
        </p:grpSpPr>
        <p:grpSp>
          <p:nvGrpSpPr>
            <p:cNvPr id="227" name="Google Shape;227;p33"/>
            <p:cNvGrpSpPr/>
            <p:nvPr/>
          </p:nvGrpSpPr>
          <p:grpSpPr>
            <a:xfrm>
              <a:off x="514350" y="1333500"/>
              <a:ext cx="8092500" cy="999236"/>
              <a:chOff x="514350" y="1333500"/>
              <a:chExt cx="8092500" cy="999236"/>
            </a:xfrm>
          </p:grpSpPr>
          <p:sp>
            <p:nvSpPr>
              <p:cNvPr id="228" name="Google Shape;228;p33"/>
              <p:cNvSpPr/>
              <p:nvPr/>
            </p:nvSpPr>
            <p:spPr>
              <a:xfrm>
                <a:off x="514350" y="1333500"/>
                <a:ext cx="8092500" cy="952500"/>
              </a:xfrm>
              <a:prstGeom prst="roundRect">
                <a:avLst>
                  <a:gd fmla="val 2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33"/>
              <p:cNvSpPr txBox="1"/>
              <p:nvPr/>
            </p:nvSpPr>
            <p:spPr>
              <a:xfrm>
                <a:off x="704850" y="1380236"/>
                <a:ext cx="571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2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chat</a:t>
                </a:r>
                <a:endParaRPr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0" name="Google Shape;230;p33"/>
              <p:cNvSpPr txBox="1"/>
              <p:nvPr/>
            </p:nvSpPr>
            <p:spPr>
              <a:xfrm>
                <a:off x="1466850" y="1333500"/>
                <a:ext cx="6762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F1A17"/>
                    </a:solidFill>
                    <a:latin typeface="Arial"/>
                    <a:ea typeface="Arial"/>
                    <a:cs typeface="Arial"/>
                    <a:sym typeface="Arial"/>
                  </a:rPr>
                  <a:t>Hvem har brukt ChatGPT eller lignende verktøy?</a:t>
                </a:r>
                <a:endParaRPr b="1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33"/>
            <p:cNvGrpSpPr/>
            <p:nvPr/>
          </p:nvGrpSpPr>
          <p:grpSpPr>
            <a:xfrm>
              <a:off x="514350" y="2428875"/>
              <a:ext cx="8092500" cy="999236"/>
              <a:chOff x="514350" y="2428875"/>
              <a:chExt cx="8092500" cy="999236"/>
            </a:xfrm>
          </p:grpSpPr>
          <p:sp>
            <p:nvSpPr>
              <p:cNvPr id="232" name="Google Shape;232;p33"/>
              <p:cNvSpPr/>
              <p:nvPr/>
            </p:nvSpPr>
            <p:spPr>
              <a:xfrm>
                <a:off x="514350" y="2428875"/>
                <a:ext cx="8092500" cy="952500"/>
              </a:xfrm>
              <a:prstGeom prst="roundRect">
                <a:avLst>
                  <a:gd fmla="val 2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33"/>
              <p:cNvSpPr txBox="1"/>
              <p:nvPr/>
            </p:nvSpPr>
            <p:spPr>
              <a:xfrm>
                <a:off x="704850" y="2475611"/>
                <a:ext cx="571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2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4" name="Google Shape;234;p33"/>
              <p:cNvSpPr txBox="1"/>
              <p:nvPr/>
            </p:nvSpPr>
            <p:spPr>
              <a:xfrm>
                <a:off x="1466850" y="2428875"/>
                <a:ext cx="6762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F1A17"/>
                    </a:solidFill>
                    <a:latin typeface="Arial"/>
                    <a:ea typeface="Arial"/>
                    <a:cs typeface="Arial"/>
                    <a:sym typeface="Arial"/>
                  </a:rPr>
                  <a:t>Hvem har møtt AI i journalsystemer, bildeanalyse eller beslutningsstøtte?</a:t>
                </a:r>
                <a:endParaRPr b="1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p33"/>
            <p:cNvGrpSpPr/>
            <p:nvPr/>
          </p:nvGrpSpPr>
          <p:grpSpPr>
            <a:xfrm>
              <a:off x="514350" y="3524250"/>
              <a:ext cx="8092500" cy="999236"/>
              <a:chOff x="514350" y="3524250"/>
              <a:chExt cx="8092500" cy="999236"/>
            </a:xfrm>
          </p:grpSpPr>
          <p:sp>
            <p:nvSpPr>
              <p:cNvPr id="236" name="Google Shape;236;p33"/>
              <p:cNvSpPr/>
              <p:nvPr/>
            </p:nvSpPr>
            <p:spPr>
              <a:xfrm>
                <a:off x="514350" y="3524250"/>
                <a:ext cx="8092500" cy="952500"/>
              </a:xfrm>
              <a:prstGeom prst="roundRect">
                <a:avLst>
                  <a:gd fmla="val 2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33"/>
              <p:cNvSpPr txBox="1"/>
              <p:nvPr/>
            </p:nvSpPr>
            <p:spPr>
              <a:xfrm>
                <a:off x="704850" y="3570986"/>
                <a:ext cx="571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2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help_outline</a:t>
                </a:r>
                <a:endParaRPr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38" name="Google Shape;238;p33"/>
              <p:cNvSpPr txBox="1"/>
              <p:nvPr/>
            </p:nvSpPr>
            <p:spPr>
              <a:xfrm>
                <a:off x="1466850" y="3524250"/>
                <a:ext cx="67629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F1A17"/>
                    </a:solidFill>
                    <a:latin typeface="Arial"/>
                    <a:ea typeface="Arial"/>
                    <a:cs typeface="Arial"/>
                    <a:sym typeface="Arial"/>
                  </a:rPr>
                  <a:t>Hvem er nysgjerrig, men usikker på hva som faktisk er nyttig?</a:t>
                </a:r>
                <a:endParaRPr b="1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245" name="Google Shape;245;p34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Hva mener vi egentlig med AI?</a:t>
            </a:r>
            <a:endParaRPr sz="1100"/>
          </a:p>
        </p:txBody>
      </p:sp>
      <p:grpSp>
        <p:nvGrpSpPr>
          <p:cNvPr id="246" name="Google Shape;246;p34"/>
          <p:cNvGrpSpPr/>
          <p:nvPr/>
        </p:nvGrpSpPr>
        <p:grpSpPr>
          <a:xfrm>
            <a:off x="514350" y="1333500"/>
            <a:ext cx="8092500" cy="3189986"/>
            <a:chOff x="514350" y="1333500"/>
            <a:chExt cx="8092500" cy="3189986"/>
          </a:xfrm>
        </p:grpSpPr>
        <p:sp>
          <p:nvSpPr>
            <p:cNvPr id="247" name="Google Shape;247;p34"/>
            <p:cNvSpPr/>
            <p:nvPr/>
          </p:nvSpPr>
          <p:spPr>
            <a:xfrm>
              <a:off x="514350" y="1333500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4"/>
            <p:cNvSpPr txBox="1"/>
            <p:nvPr/>
          </p:nvSpPr>
          <p:spPr>
            <a:xfrm>
              <a:off x="704850" y="1380236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9" name="Google Shape;249;p34"/>
            <p:cNvSpPr txBox="1"/>
            <p:nvPr/>
          </p:nvSpPr>
          <p:spPr>
            <a:xfrm>
              <a:off x="1466850" y="1333500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AI er et samlebegrep, ikke én enkelt teknologi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4"/>
            <p:cNvSpPr/>
            <p:nvPr/>
          </p:nvSpPr>
          <p:spPr>
            <a:xfrm>
              <a:off x="514350" y="2428875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4"/>
            <p:cNvSpPr txBox="1"/>
            <p:nvPr/>
          </p:nvSpPr>
          <p:spPr>
            <a:xfrm>
              <a:off x="704850" y="2475611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2" name="Google Shape;252;p34"/>
            <p:cNvSpPr txBox="1"/>
            <p:nvPr/>
          </p:nvSpPr>
          <p:spPr>
            <a:xfrm>
              <a:off x="1466850" y="2428875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AI kan brukes til å klassifisere, predikere, anbefale eller generere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4"/>
            <p:cNvSpPr/>
            <p:nvPr/>
          </p:nvSpPr>
          <p:spPr>
            <a:xfrm>
              <a:off x="514350" y="3524250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4"/>
            <p:cNvSpPr txBox="1"/>
            <p:nvPr/>
          </p:nvSpPr>
          <p:spPr>
            <a:xfrm>
              <a:off x="704850" y="3570986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medical_services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5" name="Google Shape;255;p34"/>
            <p:cNvSpPr txBox="1"/>
            <p:nvPr/>
          </p:nvSpPr>
          <p:spPr>
            <a:xfrm>
              <a:off x="1466850" y="3524250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I helse er det viktig å skille mellom teknologitype og faktisk bruksområde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34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uke01-introduksjon/02-hva-er-ai.ipynb</a:t>
            </a:r>
            <a:endParaRPr sz="1100"/>
          </a:p>
        </p:txBody>
      </p:sp>
      <p:pic>
        <p:nvPicPr>
          <p:cNvPr id="257" name="Google Shape;257;p3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6475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4862" y="4683975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265" name="Google Shape;265;p35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Fra regler til læring</a:t>
            </a:r>
            <a:endParaRPr sz="1100"/>
          </a:p>
        </p:txBody>
      </p:sp>
      <p:grpSp>
        <p:nvGrpSpPr>
          <p:cNvPr id="266" name="Google Shape;266;p35"/>
          <p:cNvGrpSpPr/>
          <p:nvPr/>
        </p:nvGrpSpPr>
        <p:grpSpPr>
          <a:xfrm>
            <a:off x="514350" y="1333500"/>
            <a:ext cx="8092500" cy="3189986"/>
            <a:chOff x="514350" y="1333500"/>
            <a:chExt cx="8092500" cy="3189986"/>
          </a:xfrm>
        </p:grpSpPr>
        <p:grpSp>
          <p:nvGrpSpPr>
            <p:cNvPr id="267" name="Google Shape;267;p35"/>
            <p:cNvGrpSpPr/>
            <p:nvPr/>
          </p:nvGrpSpPr>
          <p:grpSpPr>
            <a:xfrm>
              <a:off x="514350" y="1333500"/>
              <a:ext cx="8092500" cy="999236"/>
              <a:chOff x="514350" y="1333500"/>
              <a:chExt cx="8092500" cy="999236"/>
            </a:xfrm>
          </p:grpSpPr>
          <p:sp>
            <p:nvSpPr>
              <p:cNvPr id="268" name="Google Shape;268;p35"/>
              <p:cNvSpPr/>
              <p:nvPr/>
            </p:nvSpPr>
            <p:spPr>
              <a:xfrm>
                <a:off x="514350" y="1333500"/>
                <a:ext cx="8092500" cy="952500"/>
              </a:xfrm>
              <a:prstGeom prst="roundRect">
                <a:avLst>
                  <a:gd fmla="val 2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9" name="Google Shape;269;p35"/>
              <p:cNvGrpSpPr/>
              <p:nvPr/>
            </p:nvGrpSpPr>
            <p:grpSpPr>
              <a:xfrm>
                <a:off x="704850" y="1333500"/>
                <a:ext cx="571500" cy="999236"/>
                <a:chOff x="704850" y="1333500"/>
                <a:chExt cx="571500" cy="999236"/>
              </a:xfrm>
            </p:grpSpPr>
            <p:sp>
              <p:nvSpPr>
                <p:cNvPr id="270" name="Google Shape;270;p35"/>
                <p:cNvSpPr/>
                <p:nvPr/>
              </p:nvSpPr>
              <p:spPr>
                <a:xfrm>
                  <a:off x="704850" y="1333500"/>
                  <a:ext cx="571500" cy="9525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35"/>
                <p:cNvSpPr txBox="1"/>
                <p:nvPr/>
              </p:nvSpPr>
              <p:spPr>
                <a:xfrm>
                  <a:off x="704850" y="1380236"/>
                  <a:ext cx="571500" cy="95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3200">
                      <a:solidFill>
                        <a:srgbClr val="7D3C98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rule</a:t>
                  </a:r>
                  <a:endParaRPr sz="32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</p:grpSp>
          <p:grpSp>
            <p:nvGrpSpPr>
              <p:cNvPr id="272" name="Google Shape;272;p35"/>
              <p:cNvGrpSpPr/>
              <p:nvPr/>
            </p:nvGrpSpPr>
            <p:grpSpPr>
              <a:xfrm>
                <a:off x="1466850" y="1333500"/>
                <a:ext cx="6762900" cy="952500"/>
                <a:chOff x="1466850" y="1333500"/>
                <a:chExt cx="6762900" cy="952500"/>
              </a:xfrm>
            </p:grpSpPr>
            <p:sp>
              <p:nvSpPr>
                <p:cNvPr id="273" name="Google Shape;273;p35"/>
                <p:cNvSpPr/>
                <p:nvPr/>
              </p:nvSpPr>
              <p:spPr>
                <a:xfrm>
                  <a:off x="1466850" y="1333500"/>
                  <a:ext cx="6762900" cy="9525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35"/>
                <p:cNvSpPr txBox="1"/>
                <p:nvPr/>
              </p:nvSpPr>
              <p:spPr>
                <a:xfrm>
                  <a:off x="1466850" y="1333500"/>
                  <a:ext cx="6762900" cy="95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00">
                      <a:solidFill>
                        <a:srgbClr val="1F1A1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Tidlige systemer bygget på eksplisitte regler</a:t>
                  </a:r>
                  <a:endParaRPr b="1" sz="1400">
                    <a:solidFill>
                      <a:srgbClr val="1F1A1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5" name="Google Shape;275;p35"/>
            <p:cNvGrpSpPr/>
            <p:nvPr/>
          </p:nvGrpSpPr>
          <p:grpSpPr>
            <a:xfrm>
              <a:off x="514350" y="2428875"/>
              <a:ext cx="8092500" cy="999236"/>
              <a:chOff x="514350" y="2428875"/>
              <a:chExt cx="8092500" cy="999236"/>
            </a:xfrm>
          </p:grpSpPr>
          <p:sp>
            <p:nvSpPr>
              <p:cNvPr id="276" name="Google Shape;276;p35"/>
              <p:cNvSpPr/>
              <p:nvPr/>
            </p:nvSpPr>
            <p:spPr>
              <a:xfrm>
                <a:off x="514350" y="2428875"/>
                <a:ext cx="8092500" cy="952500"/>
              </a:xfrm>
              <a:prstGeom prst="roundRect">
                <a:avLst>
                  <a:gd fmla="val 2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7" name="Google Shape;277;p35"/>
              <p:cNvGrpSpPr/>
              <p:nvPr/>
            </p:nvGrpSpPr>
            <p:grpSpPr>
              <a:xfrm>
                <a:off x="704850" y="2428875"/>
                <a:ext cx="571500" cy="999236"/>
                <a:chOff x="704850" y="2428875"/>
                <a:chExt cx="571500" cy="999236"/>
              </a:xfrm>
            </p:grpSpPr>
            <p:sp>
              <p:nvSpPr>
                <p:cNvPr id="278" name="Google Shape;278;p35"/>
                <p:cNvSpPr/>
                <p:nvPr/>
              </p:nvSpPr>
              <p:spPr>
                <a:xfrm>
                  <a:off x="704850" y="2428875"/>
                  <a:ext cx="571500" cy="9525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35"/>
                <p:cNvSpPr txBox="1"/>
                <p:nvPr/>
              </p:nvSpPr>
              <p:spPr>
                <a:xfrm>
                  <a:off x="704850" y="2475611"/>
                  <a:ext cx="571500" cy="95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3200">
                      <a:solidFill>
                        <a:srgbClr val="7D3C98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model_training</a:t>
                  </a:r>
                  <a:endParaRPr sz="32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</p:grpSp>
          <p:grpSp>
            <p:nvGrpSpPr>
              <p:cNvPr id="280" name="Google Shape;280;p35"/>
              <p:cNvGrpSpPr/>
              <p:nvPr/>
            </p:nvGrpSpPr>
            <p:grpSpPr>
              <a:xfrm>
                <a:off x="1466850" y="2428875"/>
                <a:ext cx="6762900" cy="952500"/>
                <a:chOff x="1466850" y="2428875"/>
                <a:chExt cx="6762900" cy="952500"/>
              </a:xfrm>
            </p:grpSpPr>
            <p:sp>
              <p:nvSpPr>
                <p:cNvPr id="281" name="Google Shape;281;p35"/>
                <p:cNvSpPr/>
                <p:nvPr/>
              </p:nvSpPr>
              <p:spPr>
                <a:xfrm>
                  <a:off x="1466850" y="2428875"/>
                  <a:ext cx="6762900" cy="9525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35"/>
                <p:cNvSpPr txBox="1"/>
                <p:nvPr/>
              </p:nvSpPr>
              <p:spPr>
                <a:xfrm>
                  <a:off x="1466850" y="2428875"/>
                  <a:ext cx="6762900" cy="95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00">
                      <a:solidFill>
                        <a:srgbClr val="1F1A1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Moderne systemer lærer mønstre fra data</a:t>
                  </a:r>
                  <a:endParaRPr b="1" sz="1400">
                    <a:solidFill>
                      <a:srgbClr val="1F1A1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3" name="Google Shape;283;p35"/>
            <p:cNvGrpSpPr/>
            <p:nvPr/>
          </p:nvGrpSpPr>
          <p:grpSpPr>
            <a:xfrm>
              <a:off x="514350" y="3524250"/>
              <a:ext cx="8092500" cy="999236"/>
              <a:chOff x="514350" y="3524250"/>
              <a:chExt cx="8092500" cy="999236"/>
            </a:xfrm>
          </p:grpSpPr>
          <p:sp>
            <p:nvSpPr>
              <p:cNvPr id="284" name="Google Shape;284;p35"/>
              <p:cNvSpPr/>
              <p:nvPr/>
            </p:nvSpPr>
            <p:spPr>
              <a:xfrm>
                <a:off x="514350" y="3524250"/>
                <a:ext cx="8092500" cy="952500"/>
              </a:xfrm>
              <a:prstGeom prst="roundRect">
                <a:avLst>
                  <a:gd fmla="val 2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5" name="Google Shape;285;p35"/>
              <p:cNvGrpSpPr/>
              <p:nvPr/>
            </p:nvGrpSpPr>
            <p:grpSpPr>
              <a:xfrm>
                <a:off x="704850" y="3524250"/>
                <a:ext cx="571500" cy="999236"/>
                <a:chOff x="704850" y="3524250"/>
                <a:chExt cx="571500" cy="999236"/>
              </a:xfrm>
            </p:grpSpPr>
            <p:sp>
              <p:nvSpPr>
                <p:cNvPr id="286" name="Google Shape;286;p35"/>
                <p:cNvSpPr/>
                <p:nvPr/>
              </p:nvSpPr>
              <p:spPr>
                <a:xfrm>
                  <a:off x="704850" y="3524250"/>
                  <a:ext cx="571500" cy="9525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" name="Google Shape;287;p35"/>
                <p:cNvSpPr txBox="1"/>
                <p:nvPr/>
              </p:nvSpPr>
              <p:spPr>
                <a:xfrm>
                  <a:off x="704850" y="3570986"/>
                  <a:ext cx="571500" cy="95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3200">
                      <a:solidFill>
                        <a:srgbClr val="7D3C98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balance</a:t>
                  </a:r>
                  <a:endParaRPr sz="32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</p:grpSp>
          <p:grpSp>
            <p:nvGrpSpPr>
              <p:cNvPr id="288" name="Google Shape;288;p35"/>
              <p:cNvGrpSpPr/>
              <p:nvPr/>
            </p:nvGrpSpPr>
            <p:grpSpPr>
              <a:xfrm>
                <a:off x="1466850" y="3524250"/>
                <a:ext cx="6762900" cy="952500"/>
                <a:chOff x="1466850" y="3524250"/>
                <a:chExt cx="6762900" cy="952500"/>
              </a:xfrm>
            </p:grpSpPr>
            <p:sp>
              <p:nvSpPr>
                <p:cNvPr id="289" name="Google Shape;289;p35"/>
                <p:cNvSpPr/>
                <p:nvPr/>
              </p:nvSpPr>
              <p:spPr>
                <a:xfrm>
                  <a:off x="1466850" y="3524250"/>
                  <a:ext cx="6762900" cy="9525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35"/>
                <p:cNvSpPr txBox="1"/>
                <p:nvPr/>
              </p:nvSpPr>
              <p:spPr>
                <a:xfrm>
                  <a:off x="1466850" y="3524250"/>
                  <a:ext cx="6762900" cy="95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00">
                      <a:solidFill>
                        <a:srgbClr val="1F1A17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Dette gir mer fleksibilitet, men også mindre gjennomsiktighet</a:t>
                  </a:r>
                  <a:endParaRPr b="1" sz="1400">
                    <a:solidFill>
                      <a:srgbClr val="1F1A17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1" name="Google Shape;291;p35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uke01-introduksjon/05-regelbaserte-systemer.ipynb</a:t>
            </a:r>
            <a:endParaRPr sz="1100"/>
          </a:p>
        </p:txBody>
      </p:sp>
      <p:pic>
        <p:nvPicPr>
          <p:cNvPr id="292" name="Google Shape;292;p3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5353" y="4781550"/>
            <a:ext cx="1026600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299" name="Google Shape;299;p36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Fire</a:t>
            </a: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 hovedfamilier vi møter i kurset</a:t>
            </a:r>
            <a:endParaRPr sz="1100"/>
          </a:p>
        </p:txBody>
      </p:sp>
      <p:grpSp>
        <p:nvGrpSpPr>
          <p:cNvPr id="300" name="Google Shape;300;p36"/>
          <p:cNvGrpSpPr/>
          <p:nvPr/>
        </p:nvGrpSpPr>
        <p:grpSpPr>
          <a:xfrm>
            <a:off x="514350" y="1333500"/>
            <a:ext cx="8105850" cy="3048150"/>
            <a:chOff x="514350" y="1333500"/>
            <a:chExt cx="8105850" cy="3048150"/>
          </a:xfrm>
        </p:grpSpPr>
        <p:sp>
          <p:nvSpPr>
            <p:cNvPr id="301" name="Google Shape;301;p36"/>
            <p:cNvSpPr/>
            <p:nvPr/>
          </p:nvSpPr>
          <p:spPr>
            <a:xfrm>
              <a:off x="514350" y="1333500"/>
              <a:ext cx="38577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6"/>
            <p:cNvSpPr txBox="1"/>
            <p:nvPr/>
          </p:nvSpPr>
          <p:spPr>
            <a:xfrm>
              <a:off x="666750" y="152311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96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3" name="Google Shape;303;p36"/>
            <p:cNvSpPr txBox="1"/>
            <p:nvPr/>
          </p:nvSpPr>
          <p:spPr>
            <a:xfrm>
              <a:off x="1238250" y="1476375"/>
              <a:ext cx="2952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Klassisk maskinlæring</a:t>
              </a:r>
              <a:endParaRPr b="1" sz="16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Strukturerte data og statistiske modeller.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6"/>
            <p:cNvSpPr/>
            <p:nvPr/>
          </p:nvSpPr>
          <p:spPr>
            <a:xfrm>
              <a:off x="4762500" y="1333500"/>
              <a:ext cx="38577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6"/>
            <p:cNvSpPr txBox="1"/>
            <p:nvPr/>
          </p:nvSpPr>
          <p:spPr>
            <a:xfrm>
              <a:off x="4914900" y="152311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96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6" name="Google Shape;306;p36"/>
            <p:cNvSpPr txBox="1"/>
            <p:nvPr/>
          </p:nvSpPr>
          <p:spPr>
            <a:xfrm>
              <a:off x="5486400" y="1476375"/>
              <a:ext cx="2952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Dyplæring</a:t>
              </a:r>
              <a:endParaRPr b="1" sz="16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Nevrale nettverk for komplekse mønstre som bilder og tekst.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6"/>
            <p:cNvSpPr/>
            <p:nvPr/>
          </p:nvSpPr>
          <p:spPr>
            <a:xfrm>
              <a:off x="514350" y="2952750"/>
              <a:ext cx="38577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6"/>
            <p:cNvSpPr txBox="1"/>
            <p:nvPr/>
          </p:nvSpPr>
          <p:spPr>
            <a:xfrm>
              <a:off x="666750" y="314236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296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9" name="Google Shape;309;p36"/>
            <p:cNvSpPr txBox="1"/>
            <p:nvPr/>
          </p:nvSpPr>
          <p:spPr>
            <a:xfrm>
              <a:off x="1238250" y="3095625"/>
              <a:ext cx="2952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Generativ AI</a:t>
              </a:r>
              <a:endParaRPr b="1" sz="16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Skape nytt innhold basert på lærte sannsynligheter.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6"/>
            <p:cNvSpPr/>
            <p:nvPr/>
          </p:nvSpPr>
          <p:spPr>
            <a:xfrm>
              <a:off x="4762500" y="2952750"/>
              <a:ext cx="3857700" cy="14289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6"/>
            <p:cNvSpPr txBox="1"/>
            <p:nvPr/>
          </p:nvSpPr>
          <p:spPr>
            <a:xfrm>
              <a:off x="4914900" y="314236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296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2" name="Google Shape;312;p36"/>
            <p:cNvSpPr txBox="1"/>
            <p:nvPr/>
          </p:nvSpPr>
          <p:spPr>
            <a:xfrm>
              <a:off x="5486400" y="3095625"/>
              <a:ext cx="2952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Agentisk AI</a:t>
              </a:r>
              <a:endParaRPr b="1" sz="16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Autonome agenter som kan planlegge og utføre handlinger.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36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uke01-introduksjon/04-ai-ml-dl-forskjeller.ipynb</a:t>
            </a:r>
            <a:endParaRPr sz="1100"/>
          </a:p>
        </p:txBody>
      </p:sp>
      <p:pic>
        <p:nvPicPr>
          <p:cNvPr id="314" name="Google Shape;314;p3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696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7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321" name="Google Shape;321;p37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Klassisk maskinlæring, veldig kort</a:t>
            </a:r>
            <a:endParaRPr sz="1100"/>
          </a:p>
        </p:txBody>
      </p:sp>
      <p:grpSp>
        <p:nvGrpSpPr>
          <p:cNvPr id="322" name="Google Shape;322;p37"/>
          <p:cNvGrpSpPr/>
          <p:nvPr/>
        </p:nvGrpSpPr>
        <p:grpSpPr>
          <a:xfrm>
            <a:off x="514350" y="1333500"/>
            <a:ext cx="8092500" cy="3189986"/>
            <a:chOff x="514350" y="1333500"/>
            <a:chExt cx="8092500" cy="3189986"/>
          </a:xfrm>
        </p:grpSpPr>
        <p:sp>
          <p:nvSpPr>
            <p:cNvPr id="323" name="Google Shape;323;p37"/>
            <p:cNvSpPr/>
            <p:nvPr/>
          </p:nvSpPr>
          <p:spPr>
            <a:xfrm>
              <a:off x="514350" y="1333500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7"/>
            <p:cNvSpPr txBox="1"/>
            <p:nvPr/>
          </p:nvSpPr>
          <p:spPr>
            <a:xfrm>
              <a:off x="704850" y="1380236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grid_view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5" name="Google Shape;325;p37"/>
            <p:cNvSpPr txBox="1"/>
            <p:nvPr/>
          </p:nvSpPr>
          <p:spPr>
            <a:xfrm>
              <a:off x="1466850" y="1333500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Modeller finner mønstre i strukturerte data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514350" y="2428875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7"/>
            <p:cNvSpPr txBox="1"/>
            <p:nvPr/>
          </p:nvSpPr>
          <p:spPr>
            <a:xfrm>
              <a:off x="704850" y="2475611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8" name="Google Shape;328;p37"/>
            <p:cNvSpPr txBox="1"/>
            <p:nvPr/>
          </p:nvSpPr>
          <p:spPr>
            <a:xfrm>
              <a:off x="1466850" y="2428875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Brukes ofte til prediksjon og klassifikasjon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7"/>
            <p:cNvSpPr/>
            <p:nvPr/>
          </p:nvSpPr>
          <p:spPr>
            <a:xfrm>
              <a:off x="514350" y="3524250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7"/>
            <p:cNvSpPr txBox="1"/>
            <p:nvPr/>
          </p:nvSpPr>
          <p:spPr>
            <a:xfrm>
              <a:off x="704850" y="3570986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1" name="Google Shape;331;p37"/>
            <p:cNvSpPr txBox="1"/>
            <p:nvPr/>
          </p:nvSpPr>
          <p:spPr>
            <a:xfrm>
              <a:off x="1466850" y="3524250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Hvilke data brukes, hva måles og hvilke feil betyr mest?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p37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uke02-klassisk-ml/01-klassisk-ml-101.ipynb</a:t>
            </a:r>
            <a:endParaRPr sz="1100"/>
          </a:p>
        </p:txBody>
      </p:sp>
      <p:pic>
        <p:nvPicPr>
          <p:cNvPr id="333" name="Google Shape;333;p3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491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8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8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340" name="Google Shape;340;p38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Dyplæring, veldig kort</a:t>
            </a:r>
            <a:endParaRPr sz="1100"/>
          </a:p>
        </p:txBody>
      </p:sp>
      <p:grpSp>
        <p:nvGrpSpPr>
          <p:cNvPr id="341" name="Google Shape;341;p38"/>
          <p:cNvGrpSpPr/>
          <p:nvPr/>
        </p:nvGrpSpPr>
        <p:grpSpPr>
          <a:xfrm>
            <a:off x="514350" y="1333500"/>
            <a:ext cx="8092500" cy="3189986"/>
            <a:chOff x="514350" y="1333500"/>
            <a:chExt cx="8092500" cy="3189986"/>
          </a:xfrm>
        </p:grpSpPr>
        <p:sp>
          <p:nvSpPr>
            <p:cNvPr id="342" name="Google Shape;342;p38"/>
            <p:cNvSpPr/>
            <p:nvPr/>
          </p:nvSpPr>
          <p:spPr>
            <a:xfrm>
              <a:off x="514350" y="1333500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8"/>
            <p:cNvSpPr txBox="1"/>
            <p:nvPr/>
          </p:nvSpPr>
          <p:spPr>
            <a:xfrm>
              <a:off x="704850" y="1380236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b="0"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4" name="Google Shape;344;p38"/>
            <p:cNvSpPr txBox="1"/>
            <p:nvPr/>
          </p:nvSpPr>
          <p:spPr>
            <a:xfrm>
              <a:off x="1466850" y="1333500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Særlig nyttig når data er komplekse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514350" y="2428875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8"/>
            <p:cNvSpPr txBox="1"/>
            <p:nvPr/>
          </p:nvSpPr>
          <p:spPr>
            <a:xfrm>
              <a:off x="704850" y="2475611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image</a:t>
              </a:r>
              <a:endParaRPr b="0"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7" name="Google Shape;347;p38"/>
            <p:cNvSpPr txBox="1"/>
            <p:nvPr/>
          </p:nvSpPr>
          <p:spPr>
            <a:xfrm>
              <a:off x="1466850" y="2428875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Typiske eksempler er bilder, signaler og tekst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8"/>
            <p:cNvSpPr/>
            <p:nvPr/>
          </p:nvSpPr>
          <p:spPr>
            <a:xfrm>
              <a:off x="514350" y="3524250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8"/>
            <p:cNvSpPr txBox="1"/>
            <p:nvPr/>
          </p:nvSpPr>
          <p:spPr>
            <a:xfrm>
              <a:off x="704850" y="3570986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b="0"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0" name="Google Shape;350;p38"/>
            <p:cNvSpPr txBox="1"/>
            <p:nvPr/>
          </p:nvSpPr>
          <p:spPr>
            <a:xfrm>
              <a:off x="1466850" y="3524250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Mer kraftfullt, men ofte vanskeligere å forklare og kontrollere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1" name="Google Shape;351;p38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uke03-dyplæring/01a_nn_intro.ipynb                                                                                  | uke03-dyplæring/02a_cnn_bildeklassifikasjon.ipynb</a:t>
            </a:r>
            <a:endParaRPr sz="1100"/>
          </a:p>
        </p:txBody>
      </p:sp>
      <p:pic>
        <p:nvPicPr>
          <p:cNvPr id="352" name="Google Shape;352;p3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2720" y="4766310"/>
            <a:ext cx="1026600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8">
            <a:hlinkClick r:id="rId5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7879" y="4780003"/>
            <a:ext cx="1026600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9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9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360" name="Google Shape;360;p39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Generativ AI, veldig kort</a:t>
            </a:r>
            <a:endParaRPr sz="1100"/>
          </a:p>
        </p:txBody>
      </p:sp>
      <p:grpSp>
        <p:nvGrpSpPr>
          <p:cNvPr id="361" name="Google Shape;361;p39"/>
          <p:cNvGrpSpPr/>
          <p:nvPr/>
        </p:nvGrpSpPr>
        <p:grpSpPr>
          <a:xfrm>
            <a:off x="514350" y="1333500"/>
            <a:ext cx="8092500" cy="999236"/>
            <a:chOff x="514350" y="1333500"/>
            <a:chExt cx="8092500" cy="999236"/>
          </a:xfrm>
        </p:grpSpPr>
        <p:sp>
          <p:nvSpPr>
            <p:cNvPr id="362" name="Google Shape;362;p39"/>
            <p:cNvSpPr/>
            <p:nvPr/>
          </p:nvSpPr>
          <p:spPr>
            <a:xfrm>
              <a:off x="514350" y="1333500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9"/>
            <p:cNvSpPr txBox="1"/>
            <p:nvPr/>
          </p:nvSpPr>
          <p:spPr>
            <a:xfrm>
              <a:off x="704850" y="1380236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4" name="Google Shape;364;p39"/>
            <p:cNvSpPr txBox="1"/>
            <p:nvPr/>
          </p:nvSpPr>
          <p:spPr>
            <a:xfrm>
              <a:off x="1466850" y="1333500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Lager tekst, oppsummeringer, forslag eller multimodalt innhold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39"/>
          <p:cNvGrpSpPr/>
          <p:nvPr/>
        </p:nvGrpSpPr>
        <p:grpSpPr>
          <a:xfrm>
            <a:off x="514350" y="2428875"/>
            <a:ext cx="8092500" cy="999236"/>
            <a:chOff x="514350" y="2428875"/>
            <a:chExt cx="8092500" cy="999236"/>
          </a:xfrm>
        </p:grpSpPr>
        <p:sp>
          <p:nvSpPr>
            <p:cNvPr id="366" name="Google Shape;366;p39"/>
            <p:cNvSpPr/>
            <p:nvPr/>
          </p:nvSpPr>
          <p:spPr>
            <a:xfrm>
              <a:off x="514350" y="2428875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9"/>
            <p:cNvSpPr txBox="1"/>
            <p:nvPr/>
          </p:nvSpPr>
          <p:spPr>
            <a:xfrm>
              <a:off x="704850" y="2475611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8" name="Google Shape;368;p39"/>
            <p:cNvSpPr txBox="1"/>
            <p:nvPr/>
          </p:nvSpPr>
          <p:spPr>
            <a:xfrm>
              <a:off x="1466850" y="2428875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Kan være nyttig i dokumentasjon, dialog og kunnskapsstøtte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p39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uke04-generativ-ai/02_llm_grunnleggende.ipynb                                                                       | uke04-generativ-ai/03_prompt_engineering.ipynb</a:t>
            </a:r>
            <a:endParaRPr sz="1100"/>
          </a:p>
        </p:txBody>
      </p:sp>
      <p:grpSp>
        <p:nvGrpSpPr>
          <p:cNvPr id="370" name="Google Shape;370;p39"/>
          <p:cNvGrpSpPr/>
          <p:nvPr/>
        </p:nvGrpSpPr>
        <p:grpSpPr>
          <a:xfrm>
            <a:off x="514350" y="3524250"/>
            <a:ext cx="8092500" cy="999236"/>
            <a:chOff x="514350" y="3524250"/>
            <a:chExt cx="8092500" cy="999236"/>
          </a:xfrm>
        </p:grpSpPr>
        <p:sp>
          <p:nvSpPr>
            <p:cNvPr id="371" name="Google Shape;371;p39"/>
            <p:cNvSpPr/>
            <p:nvPr/>
          </p:nvSpPr>
          <p:spPr>
            <a:xfrm>
              <a:off x="514350" y="3524250"/>
              <a:ext cx="8092500" cy="9525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9"/>
            <p:cNvSpPr txBox="1"/>
            <p:nvPr/>
          </p:nvSpPr>
          <p:spPr>
            <a:xfrm>
              <a:off x="704850" y="3570986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warning_amber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3" name="Google Shape;373;p39"/>
            <p:cNvSpPr txBox="1"/>
            <p:nvPr/>
          </p:nvSpPr>
          <p:spPr>
            <a:xfrm>
              <a:off x="1466850" y="3524250"/>
              <a:ext cx="67629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Men kan også hallusinere og virke mer sikker enn den burde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4" name="Google Shape;37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587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9">
            <a:hlinkClick r:id="rId4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1037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0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382" name="Google Shape;382;p40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Hvorfor helse er interessant for AI</a:t>
            </a:r>
            <a:endParaRPr sz="1100"/>
          </a:p>
        </p:txBody>
      </p:sp>
      <p:grpSp>
        <p:nvGrpSpPr>
          <p:cNvPr id="383" name="Google Shape;383;p40"/>
          <p:cNvGrpSpPr/>
          <p:nvPr/>
        </p:nvGrpSpPr>
        <p:grpSpPr>
          <a:xfrm>
            <a:off x="514350" y="1268730"/>
            <a:ext cx="8092500" cy="3184069"/>
            <a:chOff x="514350" y="1268730"/>
            <a:chExt cx="8092500" cy="3184069"/>
          </a:xfrm>
        </p:grpSpPr>
        <p:sp>
          <p:nvSpPr>
            <p:cNvPr id="384" name="Google Shape;384;p40"/>
            <p:cNvSpPr/>
            <p:nvPr/>
          </p:nvSpPr>
          <p:spPr>
            <a:xfrm>
              <a:off x="514350" y="1268730"/>
              <a:ext cx="8092500" cy="7143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0"/>
            <p:cNvSpPr txBox="1"/>
            <p:nvPr/>
          </p:nvSpPr>
          <p:spPr>
            <a:xfrm>
              <a:off x="704850" y="1309624"/>
              <a:ext cx="571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6" name="Google Shape;386;p40"/>
            <p:cNvSpPr txBox="1"/>
            <p:nvPr/>
          </p:nvSpPr>
          <p:spPr>
            <a:xfrm>
              <a:off x="1466850" y="1268730"/>
              <a:ext cx="67629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Mange mønstre er vanskelige å se uten støtte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0"/>
            <p:cNvSpPr/>
            <p:nvPr/>
          </p:nvSpPr>
          <p:spPr>
            <a:xfrm>
              <a:off x="514350" y="2078355"/>
              <a:ext cx="8092500" cy="714300"/>
            </a:xfrm>
            <a:prstGeom prst="roundRect">
              <a:avLst>
                <a:gd fmla="val 19999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0"/>
            <p:cNvSpPr txBox="1"/>
            <p:nvPr/>
          </p:nvSpPr>
          <p:spPr>
            <a:xfrm>
              <a:off x="704850" y="2119249"/>
              <a:ext cx="571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9" name="Google Shape;389;p40"/>
            <p:cNvSpPr txBox="1"/>
            <p:nvPr/>
          </p:nvSpPr>
          <p:spPr>
            <a:xfrm>
              <a:off x="1466850" y="2078355"/>
              <a:ext cx="67629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Kliniske beslutninger er ofte probabilistiske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0"/>
            <p:cNvSpPr/>
            <p:nvPr/>
          </p:nvSpPr>
          <p:spPr>
            <a:xfrm>
              <a:off x="514350" y="2887980"/>
              <a:ext cx="8092500" cy="7143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0"/>
            <p:cNvSpPr txBox="1"/>
            <p:nvPr/>
          </p:nvSpPr>
          <p:spPr>
            <a:xfrm>
              <a:off x="704850" y="2928874"/>
              <a:ext cx="571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92" name="Google Shape;392;p40"/>
            <p:cNvSpPr txBox="1"/>
            <p:nvPr/>
          </p:nvSpPr>
          <p:spPr>
            <a:xfrm>
              <a:off x="1466850" y="2887980"/>
              <a:ext cx="67629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Bilder, signaler og tekst spiller en stor rolle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0"/>
            <p:cNvSpPr/>
            <p:nvPr/>
          </p:nvSpPr>
          <p:spPr>
            <a:xfrm>
              <a:off x="514350" y="3697605"/>
              <a:ext cx="8092500" cy="7143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0"/>
            <p:cNvSpPr txBox="1"/>
            <p:nvPr/>
          </p:nvSpPr>
          <p:spPr>
            <a:xfrm>
              <a:off x="704850" y="3738499"/>
              <a:ext cx="571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95" name="Google Shape;395;p40"/>
            <p:cNvSpPr txBox="1"/>
            <p:nvPr/>
          </p:nvSpPr>
          <p:spPr>
            <a:xfrm>
              <a:off x="1466850" y="3697605"/>
              <a:ext cx="67629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Små forbedringer kan ha stor verdi i praksis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1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1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402" name="Google Shape;402;p41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Hvorfor helse også er risikofylt for AI</a:t>
            </a:r>
            <a:endParaRPr sz="1100"/>
          </a:p>
        </p:txBody>
      </p:sp>
      <p:grpSp>
        <p:nvGrpSpPr>
          <p:cNvPr id="403" name="Google Shape;403;p41"/>
          <p:cNvGrpSpPr/>
          <p:nvPr/>
        </p:nvGrpSpPr>
        <p:grpSpPr>
          <a:xfrm>
            <a:off x="514350" y="1268730"/>
            <a:ext cx="8092500" cy="755194"/>
            <a:chOff x="514350" y="1268730"/>
            <a:chExt cx="8092500" cy="755194"/>
          </a:xfrm>
        </p:grpSpPr>
        <p:sp>
          <p:nvSpPr>
            <p:cNvPr id="404" name="Google Shape;404;p41"/>
            <p:cNvSpPr/>
            <p:nvPr/>
          </p:nvSpPr>
          <p:spPr>
            <a:xfrm>
              <a:off x="514350" y="1268730"/>
              <a:ext cx="8092500" cy="7143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1"/>
            <p:cNvSpPr txBox="1"/>
            <p:nvPr/>
          </p:nvSpPr>
          <p:spPr>
            <a:xfrm>
              <a:off x="704850" y="1309624"/>
              <a:ext cx="571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context_desktop</a:t>
              </a:r>
              <a:endParaRPr sz="7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06" name="Google Shape;406;p41"/>
            <p:cNvSpPr txBox="1"/>
            <p:nvPr/>
          </p:nvSpPr>
          <p:spPr>
            <a:xfrm>
              <a:off x="1466850" y="1268730"/>
              <a:ext cx="67629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Kontekst betyr mye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7" name="Google Shape;407;p41"/>
          <p:cNvGrpSpPr/>
          <p:nvPr/>
        </p:nvGrpSpPr>
        <p:grpSpPr>
          <a:xfrm>
            <a:off x="514350" y="2078355"/>
            <a:ext cx="8092500" cy="755194"/>
            <a:chOff x="514350" y="2078355"/>
            <a:chExt cx="8092500" cy="755194"/>
          </a:xfrm>
        </p:grpSpPr>
        <p:sp>
          <p:nvSpPr>
            <p:cNvPr id="408" name="Google Shape;408;p41"/>
            <p:cNvSpPr/>
            <p:nvPr/>
          </p:nvSpPr>
          <p:spPr>
            <a:xfrm>
              <a:off x="514350" y="2078355"/>
              <a:ext cx="8092500" cy="714300"/>
            </a:xfrm>
            <a:prstGeom prst="roundRect">
              <a:avLst>
                <a:gd fmla="val 19999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1"/>
            <p:cNvSpPr txBox="1"/>
            <p:nvPr/>
          </p:nvSpPr>
          <p:spPr>
            <a:xfrm>
              <a:off x="704850" y="2119249"/>
              <a:ext cx="571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10" name="Google Shape;410;p41"/>
            <p:cNvSpPr txBox="1"/>
            <p:nvPr/>
          </p:nvSpPr>
          <p:spPr>
            <a:xfrm>
              <a:off x="1466850" y="2078355"/>
              <a:ext cx="67629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Data er ofte skjeve, mangelfulle eller lokale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1" name="Google Shape;411;p41"/>
          <p:cNvGrpSpPr/>
          <p:nvPr/>
        </p:nvGrpSpPr>
        <p:grpSpPr>
          <a:xfrm>
            <a:off x="514350" y="2887980"/>
            <a:ext cx="8092500" cy="755194"/>
            <a:chOff x="514350" y="2887980"/>
            <a:chExt cx="8092500" cy="755194"/>
          </a:xfrm>
        </p:grpSpPr>
        <p:sp>
          <p:nvSpPr>
            <p:cNvPr id="412" name="Google Shape;412;p41"/>
            <p:cNvSpPr/>
            <p:nvPr/>
          </p:nvSpPr>
          <p:spPr>
            <a:xfrm>
              <a:off x="514350" y="2887980"/>
              <a:ext cx="8092500" cy="7143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1"/>
            <p:cNvSpPr txBox="1"/>
            <p:nvPr/>
          </p:nvSpPr>
          <p:spPr>
            <a:xfrm>
              <a:off x="704850" y="2928874"/>
              <a:ext cx="571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14" name="Google Shape;414;p41"/>
            <p:cNvSpPr txBox="1"/>
            <p:nvPr/>
          </p:nvSpPr>
          <p:spPr>
            <a:xfrm>
              <a:off x="1466850" y="2887980"/>
              <a:ext cx="67629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Feil kan skade pasienter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5" name="Google Shape;415;p41"/>
          <p:cNvGrpSpPr/>
          <p:nvPr/>
        </p:nvGrpSpPr>
        <p:grpSpPr>
          <a:xfrm>
            <a:off x="514350" y="3697605"/>
            <a:ext cx="8092500" cy="755194"/>
            <a:chOff x="514350" y="3697605"/>
            <a:chExt cx="8092500" cy="755194"/>
          </a:xfrm>
        </p:grpSpPr>
        <p:sp>
          <p:nvSpPr>
            <p:cNvPr id="416" name="Google Shape;416;p41"/>
            <p:cNvSpPr/>
            <p:nvPr/>
          </p:nvSpPr>
          <p:spPr>
            <a:xfrm>
              <a:off x="514350" y="3697605"/>
              <a:ext cx="8092500" cy="714300"/>
            </a:xfrm>
            <a:prstGeom prst="roundRect">
              <a:avLst>
                <a:gd fmla="val 20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1"/>
            <p:cNvSpPr txBox="1"/>
            <p:nvPr/>
          </p:nvSpPr>
          <p:spPr>
            <a:xfrm>
              <a:off x="704850" y="3738499"/>
              <a:ext cx="571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18" name="Google Shape;418;p41"/>
            <p:cNvSpPr txBox="1"/>
            <p:nvPr/>
          </p:nvSpPr>
          <p:spPr>
            <a:xfrm>
              <a:off x="1466850" y="3697605"/>
              <a:ext cx="67629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Tillit og ansvar kan ikke automatiseres bort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2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2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425" name="Google Shape;425;p42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Eksempel 1: bildeanalyse</a:t>
            </a:r>
            <a:endParaRPr sz="1100"/>
          </a:p>
        </p:txBody>
      </p:sp>
      <p:grpSp>
        <p:nvGrpSpPr>
          <p:cNvPr id="426" name="Google Shape;426;p42"/>
          <p:cNvGrpSpPr/>
          <p:nvPr/>
        </p:nvGrpSpPr>
        <p:grpSpPr>
          <a:xfrm>
            <a:off x="514350" y="1268730"/>
            <a:ext cx="8092500" cy="850594"/>
            <a:chOff x="514350" y="1268730"/>
            <a:chExt cx="8092500" cy="850594"/>
          </a:xfrm>
        </p:grpSpPr>
        <p:sp>
          <p:nvSpPr>
            <p:cNvPr id="427" name="Google Shape;427;p42"/>
            <p:cNvSpPr/>
            <p:nvPr/>
          </p:nvSpPr>
          <p:spPr>
            <a:xfrm>
              <a:off x="514350" y="12687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2"/>
            <p:cNvSpPr txBox="1"/>
            <p:nvPr/>
          </p:nvSpPr>
          <p:spPr>
            <a:xfrm>
              <a:off x="704850" y="1309624"/>
              <a:ext cx="571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grid_view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29" name="Google Shape;429;p42"/>
            <p:cNvSpPr txBox="1"/>
            <p:nvPr/>
          </p:nvSpPr>
          <p:spPr>
            <a:xfrm>
              <a:off x="1466850" y="1268730"/>
              <a:ext cx="67629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Radiologi, patologi og dermatologi bygger alle på mønstergjenkjenning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" name="Google Shape;430;p42"/>
          <p:cNvGrpSpPr/>
          <p:nvPr/>
        </p:nvGrpSpPr>
        <p:grpSpPr>
          <a:xfrm>
            <a:off x="514350" y="2221230"/>
            <a:ext cx="8092500" cy="850594"/>
            <a:chOff x="514350" y="2221230"/>
            <a:chExt cx="8092500" cy="850594"/>
          </a:xfrm>
        </p:grpSpPr>
        <p:sp>
          <p:nvSpPr>
            <p:cNvPr id="431" name="Google Shape;431;p42"/>
            <p:cNvSpPr/>
            <p:nvPr/>
          </p:nvSpPr>
          <p:spPr>
            <a:xfrm>
              <a:off x="514350" y="22212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2"/>
            <p:cNvSpPr txBox="1"/>
            <p:nvPr/>
          </p:nvSpPr>
          <p:spPr>
            <a:xfrm>
              <a:off x="704850" y="2262124"/>
              <a:ext cx="571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3" name="Google Shape;433;p42"/>
            <p:cNvSpPr txBox="1"/>
            <p:nvPr/>
          </p:nvSpPr>
          <p:spPr>
            <a:xfrm>
              <a:off x="1466850" y="2221230"/>
              <a:ext cx="67629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AI kan være sterk på å oppdage signaler i bilder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4" name="Google Shape;434;p42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uke03-dyplæring/03_medisinsk_bildeklassifikasjon_MR.ipynb</a:t>
            </a:r>
            <a:endParaRPr sz="1100"/>
          </a:p>
        </p:txBody>
      </p:sp>
      <p:grpSp>
        <p:nvGrpSpPr>
          <p:cNvPr id="435" name="Google Shape;435;p42"/>
          <p:cNvGrpSpPr/>
          <p:nvPr/>
        </p:nvGrpSpPr>
        <p:grpSpPr>
          <a:xfrm>
            <a:off x="514350" y="3173730"/>
            <a:ext cx="8092500" cy="850594"/>
            <a:chOff x="514350" y="3173730"/>
            <a:chExt cx="8092500" cy="850594"/>
          </a:xfrm>
        </p:grpSpPr>
        <p:sp>
          <p:nvSpPr>
            <p:cNvPr id="436" name="Google Shape;436;p42"/>
            <p:cNvSpPr/>
            <p:nvPr/>
          </p:nvSpPr>
          <p:spPr>
            <a:xfrm>
              <a:off x="514350" y="31737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2"/>
            <p:cNvSpPr txBox="1"/>
            <p:nvPr/>
          </p:nvSpPr>
          <p:spPr>
            <a:xfrm>
              <a:off x="704850" y="3214624"/>
              <a:ext cx="571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38" name="Google Shape;438;p42"/>
            <p:cNvSpPr txBox="1"/>
            <p:nvPr/>
          </p:nvSpPr>
          <p:spPr>
            <a:xfrm>
              <a:off x="1466850" y="3173730"/>
              <a:ext cx="67629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Det avgjørende spørsmålet er hvordan dette brukes i klinisk arbeid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9" name="Google Shape;439;p4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876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3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3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446" name="Google Shape;446;p43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Eksempel 2: risikomodeller</a:t>
            </a:r>
            <a:endParaRPr sz="1100"/>
          </a:p>
        </p:txBody>
      </p:sp>
      <p:grpSp>
        <p:nvGrpSpPr>
          <p:cNvPr id="447" name="Google Shape;447;p43"/>
          <p:cNvGrpSpPr/>
          <p:nvPr/>
        </p:nvGrpSpPr>
        <p:grpSpPr>
          <a:xfrm>
            <a:off x="514350" y="1268730"/>
            <a:ext cx="8092500" cy="850594"/>
            <a:chOff x="514350" y="1268730"/>
            <a:chExt cx="8092500" cy="850594"/>
          </a:xfrm>
        </p:grpSpPr>
        <p:sp>
          <p:nvSpPr>
            <p:cNvPr id="448" name="Google Shape;448;p43"/>
            <p:cNvSpPr/>
            <p:nvPr/>
          </p:nvSpPr>
          <p:spPr>
            <a:xfrm>
              <a:off x="514350" y="12687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3"/>
            <p:cNvSpPr txBox="1"/>
            <p:nvPr/>
          </p:nvSpPr>
          <p:spPr>
            <a:xfrm>
              <a:off x="704850" y="13096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0" name="Google Shape;450;p43"/>
            <p:cNvSpPr txBox="1"/>
            <p:nvPr/>
          </p:nvSpPr>
          <p:spPr>
            <a:xfrm>
              <a:off x="1466850" y="12687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Hvem har økt risiko?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p43"/>
          <p:cNvGrpSpPr/>
          <p:nvPr/>
        </p:nvGrpSpPr>
        <p:grpSpPr>
          <a:xfrm>
            <a:off x="514350" y="2221230"/>
            <a:ext cx="8092500" cy="850594"/>
            <a:chOff x="514350" y="2221230"/>
            <a:chExt cx="8092500" cy="850594"/>
          </a:xfrm>
        </p:grpSpPr>
        <p:sp>
          <p:nvSpPr>
            <p:cNvPr id="452" name="Google Shape;452;p43"/>
            <p:cNvSpPr/>
            <p:nvPr/>
          </p:nvSpPr>
          <p:spPr>
            <a:xfrm>
              <a:off x="514350" y="22212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3"/>
            <p:cNvSpPr txBox="1"/>
            <p:nvPr/>
          </p:nvSpPr>
          <p:spPr>
            <a:xfrm>
              <a:off x="704850" y="22621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person_search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4" name="Google Shape;454;p43"/>
            <p:cNvSpPr txBox="1"/>
            <p:nvPr/>
          </p:nvSpPr>
          <p:spPr>
            <a:xfrm>
              <a:off x="1466850" y="22212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Hvem bør følges opp tettere?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p43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uke06-klinisk-praksis/01_risikomodell_logistisk_regresjon_kalibrering_shap.ipynb</a:t>
            </a:r>
            <a:endParaRPr sz="1100"/>
          </a:p>
        </p:txBody>
      </p:sp>
      <p:grpSp>
        <p:nvGrpSpPr>
          <p:cNvPr id="456" name="Google Shape;456;p43"/>
          <p:cNvGrpSpPr/>
          <p:nvPr/>
        </p:nvGrpSpPr>
        <p:grpSpPr>
          <a:xfrm>
            <a:off x="514350" y="3173730"/>
            <a:ext cx="8092500" cy="850594"/>
            <a:chOff x="514350" y="3173730"/>
            <a:chExt cx="8092500" cy="850594"/>
          </a:xfrm>
        </p:grpSpPr>
        <p:sp>
          <p:nvSpPr>
            <p:cNvPr id="457" name="Google Shape;457;p43"/>
            <p:cNvSpPr/>
            <p:nvPr/>
          </p:nvSpPr>
          <p:spPr>
            <a:xfrm>
              <a:off x="514350" y="31737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3"/>
            <p:cNvSpPr txBox="1"/>
            <p:nvPr/>
          </p:nvSpPr>
          <p:spPr>
            <a:xfrm>
              <a:off x="704850" y="32146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clinical_notes</a:t>
              </a:r>
              <a:endParaRPr sz="7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9" name="Google Shape;459;p43"/>
            <p:cNvSpPr txBox="1"/>
            <p:nvPr/>
          </p:nvSpPr>
          <p:spPr>
            <a:xfrm>
              <a:off x="1466850" y="31737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Når blir en prediksjon faktisk nyttig for klinisk beslutningsstøtte?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0" name="Google Shape;460;p4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0903" y="4766310"/>
            <a:ext cx="1026600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4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4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467" name="Google Shape;467;p44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Eksempel 3: språk og dokumentasjon</a:t>
            </a:r>
            <a:endParaRPr sz="1100"/>
          </a:p>
        </p:txBody>
      </p:sp>
      <p:grpSp>
        <p:nvGrpSpPr>
          <p:cNvPr id="468" name="Google Shape;468;p44"/>
          <p:cNvGrpSpPr/>
          <p:nvPr/>
        </p:nvGrpSpPr>
        <p:grpSpPr>
          <a:xfrm>
            <a:off x="514350" y="1268730"/>
            <a:ext cx="8092500" cy="850594"/>
            <a:chOff x="514350" y="1268730"/>
            <a:chExt cx="8092500" cy="850594"/>
          </a:xfrm>
        </p:grpSpPr>
        <p:sp>
          <p:nvSpPr>
            <p:cNvPr id="469" name="Google Shape;469;p44"/>
            <p:cNvSpPr/>
            <p:nvPr/>
          </p:nvSpPr>
          <p:spPr>
            <a:xfrm>
              <a:off x="514350" y="12687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4"/>
            <p:cNvSpPr txBox="1"/>
            <p:nvPr/>
          </p:nvSpPr>
          <p:spPr>
            <a:xfrm>
              <a:off x="704850" y="13096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summarize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1" name="Google Shape;471;p44"/>
            <p:cNvSpPr txBox="1"/>
            <p:nvPr/>
          </p:nvSpPr>
          <p:spPr>
            <a:xfrm>
              <a:off x="1466850" y="12687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Oppsummering av tekst og strukturering av informasjon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44"/>
          <p:cNvGrpSpPr/>
          <p:nvPr/>
        </p:nvGrpSpPr>
        <p:grpSpPr>
          <a:xfrm>
            <a:off x="514350" y="2221230"/>
            <a:ext cx="8092500" cy="850594"/>
            <a:chOff x="514350" y="2221230"/>
            <a:chExt cx="8092500" cy="850594"/>
          </a:xfrm>
        </p:grpSpPr>
        <p:sp>
          <p:nvSpPr>
            <p:cNvPr id="473" name="Google Shape;473;p44"/>
            <p:cNvSpPr/>
            <p:nvPr/>
          </p:nvSpPr>
          <p:spPr>
            <a:xfrm>
              <a:off x="514350" y="22212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4"/>
            <p:cNvSpPr txBox="1"/>
            <p:nvPr/>
          </p:nvSpPr>
          <p:spPr>
            <a:xfrm>
              <a:off x="704850" y="22621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edit_note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5" name="Google Shape;475;p44"/>
            <p:cNvSpPr txBox="1"/>
            <p:nvPr/>
          </p:nvSpPr>
          <p:spPr>
            <a:xfrm>
              <a:off x="1466850" y="22212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Forslag til formuleringer og støtte i administrativt arbeid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44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uke04-generativ-ai/04_chatgpt_claude_api.ipynb                                                                            | intro_openai_anthropic.ipynb</a:t>
            </a:r>
            <a:endParaRPr sz="1100"/>
          </a:p>
        </p:txBody>
      </p:sp>
      <p:grpSp>
        <p:nvGrpSpPr>
          <p:cNvPr id="477" name="Google Shape;477;p44"/>
          <p:cNvGrpSpPr/>
          <p:nvPr/>
        </p:nvGrpSpPr>
        <p:grpSpPr>
          <a:xfrm>
            <a:off x="514350" y="3173730"/>
            <a:ext cx="8092500" cy="850594"/>
            <a:chOff x="514350" y="3173730"/>
            <a:chExt cx="8092500" cy="850594"/>
          </a:xfrm>
        </p:grpSpPr>
        <p:sp>
          <p:nvSpPr>
            <p:cNvPr id="478" name="Google Shape;478;p44"/>
            <p:cNvSpPr/>
            <p:nvPr/>
          </p:nvSpPr>
          <p:spPr>
            <a:xfrm>
              <a:off x="514350" y="31737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4"/>
            <p:cNvSpPr txBox="1"/>
            <p:nvPr/>
          </p:nvSpPr>
          <p:spPr>
            <a:xfrm>
              <a:off x="704850" y="32146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gpp_maybe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0" name="Google Shape;480;p44"/>
            <p:cNvSpPr txBox="1"/>
            <p:nvPr/>
          </p:nvSpPr>
          <p:spPr>
            <a:xfrm>
              <a:off x="1466850" y="31737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Lavere terskel enn mange andre AI-bruksområder, men fortsatt ikke risikofritt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 b="2692840" l="-395360" r="395360" t="-2692840"/>
          <a:stretch/>
        </p:blipFill>
        <p:spPr>
          <a:xfrm>
            <a:off x="0" y="0"/>
            <a:ext cx="1026600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4">
            <a:hlinkClick r:id="rId4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4287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4">
            <a:hlinkClick r:id="rId5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2187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5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5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490" name="Google Shape;490;p45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Eksempel 4: velferdsteknologi og sensorer</a:t>
            </a:r>
            <a:endParaRPr sz="1100"/>
          </a:p>
        </p:txBody>
      </p:sp>
      <p:grpSp>
        <p:nvGrpSpPr>
          <p:cNvPr id="491" name="Google Shape;491;p45"/>
          <p:cNvGrpSpPr/>
          <p:nvPr/>
        </p:nvGrpSpPr>
        <p:grpSpPr>
          <a:xfrm>
            <a:off x="514350" y="1268730"/>
            <a:ext cx="8092500" cy="850594"/>
            <a:chOff x="514350" y="1268730"/>
            <a:chExt cx="8092500" cy="850594"/>
          </a:xfrm>
        </p:grpSpPr>
        <p:sp>
          <p:nvSpPr>
            <p:cNvPr id="492" name="Google Shape;492;p45"/>
            <p:cNvSpPr/>
            <p:nvPr/>
          </p:nvSpPr>
          <p:spPr>
            <a:xfrm>
              <a:off x="514350" y="12687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5"/>
            <p:cNvSpPr txBox="1"/>
            <p:nvPr/>
          </p:nvSpPr>
          <p:spPr>
            <a:xfrm>
              <a:off x="704850" y="13096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94" name="Google Shape;494;p45"/>
            <p:cNvSpPr txBox="1"/>
            <p:nvPr/>
          </p:nvSpPr>
          <p:spPr>
            <a:xfrm>
              <a:off x="1466850" y="12687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Tolkning av aktivitet og avvik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5" name="Google Shape;495;p45"/>
          <p:cNvGrpSpPr/>
          <p:nvPr/>
        </p:nvGrpSpPr>
        <p:grpSpPr>
          <a:xfrm>
            <a:off x="514350" y="2221230"/>
            <a:ext cx="8092500" cy="850594"/>
            <a:chOff x="514350" y="2221230"/>
            <a:chExt cx="8092500" cy="850594"/>
          </a:xfrm>
        </p:grpSpPr>
        <p:sp>
          <p:nvSpPr>
            <p:cNvPr id="496" name="Google Shape;496;p45"/>
            <p:cNvSpPr/>
            <p:nvPr/>
          </p:nvSpPr>
          <p:spPr>
            <a:xfrm>
              <a:off x="514350" y="22212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5"/>
            <p:cNvSpPr txBox="1"/>
            <p:nvPr/>
          </p:nvSpPr>
          <p:spPr>
            <a:xfrm>
              <a:off x="704850" y="22621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notification_important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98" name="Google Shape;498;p45"/>
            <p:cNvSpPr txBox="1"/>
            <p:nvPr/>
          </p:nvSpPr>
          <p:spPr>
            <a:xfrm>
              <a:off x="1466850" y="22212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Varsling og prioritering i hjem og omsorg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45"/>
          <p:cNvSpPr txBox="1"/>
          <p:nvPr/>
        </p:nvSpPr>
        <p:spPr>
          <a:xfrm>
            <a:off x="85350" y="4766300"/>
            <a:ext cx="8521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uke07-velferdsteknologi/02_sensorer_aktivitet_og_hendelsesforståelse.ipynb                                              | uke07-velferdsteknologi/03_beslutningsstøtte_i_hjem_og_omsorg.ipynb</a:t>
            </a:r>
            <a:endParaRPr sz="1100"/>
          </a:p>
        </p:txBody>
      </p:sp>
      <p:grpSp>
        <p:nvGrpSpPr>
          <p:cNvPr id="500" name="Google Shape;500;p45"/>
          <p:cNvGrpSpPr/>
          <p:nvPr/>
        </p:nvGrpSpPr>
        <p:grpSpPr>
          <a:xfrm>
            <a:off x="514350" y="3173730"/>
            <a:ext cx="8092500" cy="850594"/>
            <a:chOff x="514350" y="3173730"/>
            <a:chExt cx="8092500" cy="850594"/>
          </a:xfrm>
        </p:grpSpPr>
        <p:sp>
          <p:nvSpPr>
            <p:cNvPr id="501" name="Google Shape;501;p45"/>
            <p:cNvSpPr/>
            <p:nvPr/>
          </p:nvSpPr>
          <p:spPr>
            <a:xfrm>
              <a:off x="514350" y="31737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5"/>
            <p:cNvSpPr txBox="1"/>
            <p:nvPr/>
          </p:nvSpPr>
          <p:spPr>
            <a:xfrm>
              <a:off x="704850" y="32146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volunteer_activism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03" name="Google Shape;503;p45"/>
            <p:cNvSpPr txBox="1"/>
            <p:nvPr/>
          </p:nvSpPr>
          <p:spPr>
            <a:xfrm>
              <a:off x="1466850" y="31737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Teknologi som virker tett på hverdagsliv og omsorgspraksis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4" name="Google Shape;504;p4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179" l="0" r="0" t="189"/>
          <a:stretch/>
        </p:blipFill>
        <p:spPr>
          <a:xfrm>
            <a:off x="8037677" y="4766310"/>
            <a:ext cx="1025700" cy="1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5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7312" y="476585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6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6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512" name="Google Shape;512;p46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Eksempel 5: generativ AI som støtte</a:t>
            </a:r>
            <a:endParaRPr sz="1100"/>
          </a:p>
        </p:txBody>
      </p:sp>
      <p:grpSp>
        <p:nvGrpSpPr>
          <p:cNvPr id="513" name="Google Shape;513;p46"/>
          <p:cNvGrpSpPr/>
          <p:nvPr/>
        </p:nvGrpSpPr>
        <p:grpSpPr>
          <a:xfrm>
            <a:off x="514350" y="1268730"/>
            <a:ext cx="8092500" cy="850594"/>
            <a:chOff x="514350" y="1268730"/>
            <a:chExt cx="8092500" cy="850594"/>
          </a:xfrm>
        </p:grpSpPr>
        <p:sp>
          <p:nvSpPr>
            <p:cNvPr id="514" name="Google Shape;514;p46"/>
            <p:cNvSpPr/>
            <p:nvPr/>
          </p:nvSpPr>
          <p:spPr>
            <a:xfrm>
              <a:off x="514350" y="12687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6"/>
            <p:cNvSpPr txBox="1"/>
            <p:nvPr/>
          </p:nvSpPr>
          <p:spPr>
            <a:xfrm>
              <a:off x="704850" y="13096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6" name="Google Shape;516;p46"/>
            <p:cNvSpPr txBox="1"/>
            <p:nvPr/>
          </p:nvSpPr>
          <p:spPr>
            <a:xfrm>
              <a:off x="1466850" y="12687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Utkast til tekst og oppsummering av informasjon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" name="Google Shape;517;p46"/>
          <p:cNvGrpSpPr/>
          <p:nvPr/>
        </p:nvGrpSpPr>
        <p:grpSpPr>
          <a:xfrm>
            <a:off x="514350" y="2221230"/>
            <a:ext cx="8092500" cy="850594"/>
            <a:chOff x="514350" y="2221230"/>
            <a:chExt cx="8092500" cy="850594"/>
          </a:xfrm>
        </p:grpSpPr>
        <p:sp>
          <p:nvSpPr>
            <p:cNvPr id="518" name="Google Shape;518;p46"/>
            <p:cNvSpPr/>
            <p:nvPr/>
          </p:nvSpPr>
          <p:spPr>
            <a:xfrm>
              <a:off x="514350" y="22212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6"/>
            <p:cNvSpPr txBox="1"/>
            <p:nvPr/>
          </p:nvSpPr>
          <p:spPr>
            <a:xfrm>
              <a:off x="704850" y="22621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20" name="Google Shape;520;p46"/>
            <p:cNvSpPr txBox="1"/>
            <p:nvPr/>
          </p:nvSpPr>
          <p:spPr>
            <a:xfrm>
              <a:off x="1466850" y="22212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Strukturering av faglig innhold og spørsmål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" name="Google Shape;521;p46"/>
          <p:cNvGrpSpPr/>
          <p:nvPr/>
        </p:nvGrpSpPr>
        <p:grpSpPr>
          <a:xfrm>
            <a:off x="514350" y="3173730"/>
            <a:ext cx="8092500" cy="850594"/>
            <a:chOff x="514350" y="3173730"/>
            <a:chExt cx="8092500" cy="850594"/>
          </a:xfrm>
        </p:grpSpPr>
        <p:sp>
          <p:nvSpPr>
            <p:cNvPr id="522" name="Google Shape;522;p46"/>
            <p:cNvSpPr/>
            <p:nvPr/>
          </p:nvSpPr>
          <p:spPr>
            <a:xfrm>
              <a:off x="514350" y="3173730"/>
              <a:ext cx="8092500" cy="809700"/>
            </a:xfrm>
            <a:prstGeom prst="roundRect">
              <a:avLst>
                <a:gd fmla="val 1764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6"/>
            <p:cNvSpPr txBox="1"/>
            <p:nvPr/>
          </p:nvSpPr>
          <p:spPr>
            <a:xfrm>
              <a:off x="704850" y="3214624"/>
              <a:ext cx="571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psychology_alt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24" name="Google Shape;524;p46"/>
            <p:cNvSpPr txBox="1"/>
            <p:nvPr/>
          </p:nvSpPr>
          <p:spPr>
            <a:xfrm>
              <a:off x="1466850" y="3173730"/>
              <a:ext cx="6762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Kan være nyttig som støtte, men ikke som automatisk fasit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p46"/>
          <p:cNvSpPr txBox="1"/>
          <p:nvPr/>
        </p:nvSpPr>
        <p:spPr>
          <a:xfrm>
            <a:off x="514350" y="4766310"/>
            <a:ext cx="809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uke04-generativ-ai/04_chatgpt_claude_api.ipynb</a:t>
            </a:r>
            <a:endParaRPr i="1" sz="700">
              <a:solidFill>
                <a:srgbClr val="5D52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6" name="Google Shape;526;p4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1596" y="4724659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7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533" name="Google Shape;533;p47"/>
          <p:cNvSpPr txBox="1"/>
          <p:nvPr/>
        </p:nvSpPr>
        <p:spPr>
          <a:xfrm>
            <a:off x="514350" y="571500"/>
            <a:ext cx="79554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762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Temaene i repoet, som kurskart</a:t>
            </a:r>
            <a:endParaRPr b="1" sz="2400">
              <a:solidFill>
                <a:srgbClr val="1F1A17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534" name="Google Shape;534;p47"/>
          <p:cNvGrpSpPr/>
          <p:nvPr/>
        </p:nvGrpSpPr>
        <p:grpSpPr>
          <a:xfrm>
            <a:off x="514350" y="1238250"/>
            <a:ext cx="2571900" cy="1428900"/>
            <a:chOff x="514350" y="1238250"/>
            <a:chExt cx="2571900" cy="1428900"/>
          </a:xfrm>
        </p:grpSpPr>
        <p:sp>
          <p:nvSpPr>
            <p:cNvPr id="535" name="Google Shape;535;p47"/>
            <p:cNvSpPr/>
            <p:nvPr/>
          </p:nvSpPr>
          <p:spPr>
            <a:xfrm>
              <a:off x="514350" y="1238250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7"/>
            <p:cNvSpPr txBox="1"/>
            <p:nvPr/>
          </p:nvSpPr>
          <p:spPr>
            <a:xfrm>
              <a:off x="609600" y="133350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r>
                <a:rPr b="1" lang="en" sz="13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Uke 1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Begreper, historikk og hva AI faktisk er i helsefaglig sammenheng.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2E86C1"/>
                  </a:solidFill>
                  <a:latin typeface="Arial"/>
                  <a:ea typeface="Arial"/>
                  <a:cs typeface="Arial"/>
                  <a:sym typeface="Arial"/>
                </a:rPr>
                <a:t>uke01-introduksjon/02-hva-er-ai.ipynb</a:t>
              </a:r>
              <a:endParaRPr i="1" sz="800">
                <a:solidFill>
                  <a:srgbClr val="2E86C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7" name="Google Shape;537;p47"/>
          <p:cNvGrpSpPr/>
          <p:nvPr/>
        </p:nvGrpSpPr>
        <p:grpSpPr>
          <a:xfrm>
            <a:off x="3286125" y="1238250"/>
            <a:ext cx="2571900" cy="1428900"/>
            <a:chOff x="3286125" y="1238250"/>
            <a:chExt cx="2571900" cy="1428900"/>
          </a:xfrm>
        </p:grpSpPr>
        <p:sp>
          <p:nvSpPr>
            <p:cNvPr id="538" name="Google Shape;538;p47"/>
            <p:cNvSpPr/>
            <p:nvPr/>
          </p:nvSpPr>
          <p:spPr>
            <a:xfrm>
              <a:off x="3286125" y="1238250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7"/>
            <p:cNvSpPr txBox="1"/>
            <p:nvPr/>
          </p:nvSpPr>
          <p:spPr>
            <a:xfrm>
              <a:off x="3381375" y="133350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show_chart</a:t>
              </a:r>
              <a:r>
                <a:rPr b="1" lang="en" sz="13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Uke 2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Klassisk maskinlæring, prediksjon og grunnleggende evaluering.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2E86C1"/>
                  </a:solidFill>
                  <a:latin typeface="Arial"/>
                  <a:ea typeface="Arial"/>
                  <a:cs typeface="Arial"/>
                  <a:sym typeface="Arial"/>
                </a:rPr>
                <a:t>uke02-klassisk-ml/01-klassisk-ml-101.ipynb</a:t>
              </a:r>
              <a:endParaRPr i="1" sz="800">
                <a:solidFill>
                  <a:srgbClr val="2E86C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0" name="Google Shape;540;p47"/>
          <p:cNvGrpSpPr/>
          <p:nvPr/>
        </p:nvGrpSpPr>
        <p:grpSpPr>
          <a:xfrm>
            <a:off x="6057900" y="1238250"/>
            <a:ext cx="2571900" cy="1428900"/>
            <a:chOff x="6057900" y="1238250"/>
            <a:chExt cx="2571900" cy="1428900"/>
          </a:xfrm>
        </p:grpSpPr>
        <p:sp>
          <p:nvSpPr>
            <p:cNvPr id="541" name="Google Shape;541;p47"/>
            <p:cNvSpPr/>
            <p:nvPr/>
          </p:nvSpPr>
          <p:spPr>
            <a:xfrm>
              <a:off x="6057900" y="1238250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7"/>
            <p:cNvSpPr txBox="1"/>
            <p:nvPr/>
          </p:nvSpPr>
          <p:spPr>
            <a:xfrm>
              <a:off x="6153150" y="133350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image</a:t>
              </a:r>
              <a:r>
                <a:rPr b="1" lang="en" sz="1105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Uke 3</a:t>
              </a:r>
              <a:endParaRPr sz="1190"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Dyplæring, bilder, signaler og forklarbarhet.</a:t>
              </a:r>
              <a:endParaRPr sz="85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" sz="680">
                  <a:solidFill>
                    <a:srgbClr val="2E86C1"/>
                  </a:solidFill>
                  <a:latin typeface="Arial"/>
                  <a:ea typeface="Arial"/>
                  <a:cs typeface="Arial"/>
                  <a:sym typeface="Arial"/>
                </a:rPr>
                <a:t>uke03-dyplæring/03_medisinsk_bildeklassifikasjon_MR.ipynb</a:t>
              </a:r>
              <a:endParaRPr i="1" sz="680">
                <a:solidFill>
                  <a:srgbClr val="2E86C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3" name="Google Shape;543;p47"/>
          <p:cNvGrpSpPr/>
          <p:nvPr/>
        </p:nvGrpSpPr>
        <p:grpSpPr>
          <a:xfrm>
            <a:off x="514350" y="2857500"/>
            <a:ext cx="2571900" cy="1428900"/>
            <a:chOff x="514350" y="2857500"/>
            <a:chExt cx="2571900" cy="1428900"/>
          </a:xfrm>
        </p:grpSpPr>
        <p:sp>
          <p:nvSpPr>
            <p:cNvPr id="544" name="Google Shape;544;p47"/>
            <p:cNvSpPr/>
            <p:nvPr/>
          </p:nvSpPr>
          <p:spPr>
            <a:xfrm>
              <a:off x="514350" y="2857500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7"/>
            <p:cNvSpPr txBox="1"/>
            <p:nvPr/>
          </p:nvSpPr>
          <p:spPr>
            <a:xfrm>
              <a:off x="609600" y="295275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r>
                <a:rPr b="1" lang="en" sz="13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Uke 4-5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Generativ AI, språkmodeller, prompt engineering og agentisk AI.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2E86C1"/>
                  </a:solidFill>
                  <a:latin typeface="Arial"/>
                  <a:ea typeface="Arial"/>
                  <a:cs typeface="Arial"/>
                  <a:sym typeface="Arial"/>
                </a:rPr>
                <a:t>uke04-generativ-ai/02_llm_grunnleggende.ipynb</a:t>
              </a:r>
              <a:endParaRPr i="1" sz="800">
                <a:solidFill>
                  <a:srgbClr val="2E86C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6" name="Google Shape;546;p47"/>
          <p:cNvGrpSpPr/>
          <p:nvPr/>
        </p:nvGrpSpPr>
        <p:grpSpPr>
          <a:xfrm>
            <a:off x="3286125" y="2857500"/>
            <a:ext cx="2571900" cy="1428900"/>
            <a:chOff x="3286125" y="2857500"/>
            <a:chExt cx="2571900" cy="1428900"/>
          </a:xfrm>
        </p:grpSpPr>
        <p:sp>
          <p:nvSpPr>
            <p:cNvPr id="547" name="Google Shape;547;p47"/>
            <p:cNvSpPr/>
            <p:nvPr/>
          </p:nvSpPr>
          <p:spPr>
            <a:xfrm>
              <a:off x="3286125" y="2857500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7"/>
            <p:cNvSpPr txBox="1"/>
            <p:nvPr/>
          </p:nvSpPr>
          <p:spPr>
            <a:xfrm>
              <a:off x="3381375" y="295275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health_and_safety</a:t>
              </a:r>
              <a:r>
                <a:rPr b="1" lang="en" sz="13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Uke 6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Klinisk praksis, risikomodeller og beslutningsstøtte.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2E86C1"/>
                  </a:solidFill>
                  <a:latin typeface="Arial"/>
                  <a:ea typeface="Arial"/>
                  <a:cs typeface="Arial"/>
                  <a:sym typeface="Arial"/>
                </a:rPr>
                <a:t>uke06-klinisk-praksis/01_risikomodell_...ipynb</a:t>
              </a:r>
              <a:endParaRPr i="1" sz="800">
                <a:solidFill>
                  <a:srgbClr val="2E86C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9" name="Google Shape;549;p47"/>
          <p:cNvGrpSpPr/>
          <p:nvPr/>
        </p:nvGrpSpPr>
        <p:grpSpPr>
          <a:xfrm>
            <a:off x="6057900" y="2857500"/>
            <a:ext cx="2571900" cy="1428900"/>
            <a:chOff x="6057900" y="2857500"/>
            <a:chExt cx="2571900" cy="1428900"/>
          </a:xfrm>
        </p:grpSpPr>
        <p:sp>
          <p:nvSpPr>
            <p:cNvPr id="550" name="Google Shape;550;p47"/>
            <p:cNvSpPr/>
            <p:nvPr/>
          </p:nvSpPr>
          <p:spPr>
            <a:xfrm>
              <a:off x="6057900" y="2857500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7"/>
            <p:cNvSpPr txBox="1"/>
            <p:nvPr/>
          </p:nvSpPr>
          <p:spPr>
            <a:xfrm>
              <a:off x="6153150" y="295275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r>
                <a:rPr b="1" lang="en" sz="13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Uke 7-8</a:t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Velferdsteknologi, etikk, regulering og trustworthy AI.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2E86C1"/>
                  </a:solidFill>
                  <a:latin typeface="Arial"/>
                  <a:ea typeface="Arial"/>
                  <a:cs typeface="Arial"/>
                  <a:sym typeface="Arial"/>
                </a:rPr>
                <a:t>uke08-etikk-implementering/05_trustworthy_ai.ipynb</a:t>
              </a:r>
              <a:endParaRPr i="1" sz="800">
                <a:solidFill>
                  <a:srgbClr val="2E86C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2" name="Google Shape;552;p47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README.md</a:t>
            </a:r>
            <a:endParaRPr sz="1100"/>
          </a:p>
        </p:txBody>
      </p:sp>
      <p:pic>
        <p:nvPicPr>
          <p:cNvPr id="553" name="Google Shape;553;p4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462" y="2304625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7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6637" y="2304625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7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1112" y="2304625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7">
            <a:hlinkClick r:id="rId7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462" y="3943125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47">
            <a:hlinkClick r:id="rId8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6637" y="3943125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47">
            <a:hlinkClick r:id="rId9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1112" y="3943125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8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8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565" name="Google Shape;565;p48"/>
          <p:cNvSpPr txBox="1"/>
          <p:nvPr/>
        </p:nvSpPr>
        <p:spPr>
          <a:xfrm>
            <a:off x="514350" y="651510"/>
            <a:ext cx="7818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Visuelt case: AI i radiologi</a:t>
            </a:r>
            <a:endParaRPr sz="1100"/>
          </a:p>
        </p:txBody>
      </p:sp>
      <p:grpSp>
        <p:nvGrpSpPr>
          <p:cNvPr id="566" name="Google Shape;566;p48"/>
          <p:cNvGrpSpPr/>
          <p:nvPr/>
        </p:nvGrpSpPr>
        <p:grpSpPr>
          <a:xfrm>
            <a:off x="514350" y="1047750"/>
            <a:ext cx="8092500" cy="762000"/>
            <a:chOff x="514350" y="1047750"/>
            <a:chExt cx="8092500" cy="762000"/>
          </a:xfrm>
        </p:grpSpPr>
        <p:sp>
          <p:nvSpPr>
            <p:cNvPr id="567" name="Google Shape;567;p48"/>
            <p:cNvSpPr/>
            <p:nvPr/>
          </p:nvSpPr>
          <p:spPr>
            <a:xfrm>
              <a:off x="514350" y="1047750"/>
              <a:ext cx="8092500" cy="762000"/>
            </a:xfrm>
            <a:prstGeom prst="roundRect">
              <a:avLst>
                <a:gd fmla="val 15000" name="adj"/>
              </a:avLst>
            </a:prstGeom>
            <a:solidFill>
              <a:srgbClr val="7D3C98">
                <a:alpha val="5000"/>
              </a:srgbClr>
            </a:solidFill>
            <a:ln cap="flat" cmpd="sng" w="9525">
              <a:solidFill>
                <a:srgbClr val="7D3C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8"/>
            <p:cNvSpPr txBox="1"/>
            <p:nvPr/>
          </p:nvSpPr>
          <p:spPr>
            <a:xfrm>
              <a:off x="609600" y="1047750"/>
              <a:ext cx="790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Case: AI-assistert radiologisk arbeidsflyt</a:t>
              </a:r>
              <a:endParaRPr b="1" sz="13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Tenk deg en situasjon der et AI-system markerer mistenkelige funn i medisinske bilder før radiologen starter sin vurdering.</a:t>
              </a:r>
              <a:endParaRPr b="0"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9" name="Google Shape;569;p48"/>
          <p:cNvGrpSpPr/>
          <p:nvPr/>
        </p:nvGrpSpPr>
        <p:grpSpPr>
          <a:xfrm>
            <a:off x="514350" y="1952625"/>
            <a:ext cx="3952800" cy="2571900"/>
            <a:chOff x="514350" y="1952625"/>
            <a:chExt cx="3952800" cy="2571900"/>
          </a:xfrm>
        </p:grpSpPr>
        <p:sp>
          <p:nvSpPr>
            <p:cNvPr id="570" name="Google Shape;570;p48"/>
            <p:cNvSpPr/>
            <p:nvPr/>
          </p:nvSpPr>
          <p:spPr>
            <a:xfrm>
              <a:off x="514350" y="1952625"/>
              <a:ext cx="3952800" cy="2571900"/>
            </a:xfrm>
            <a:prstGeom prst="roundRect">
              <a:avLst>
                <a:gd fmla="val 555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8"/>
            <p:cNvSpPr txBox="1"/>
            <p:nvPr/>
          </p:nvSpPr>
          <p:spPr>
            <a:xfrm>
              <a:off x="514350" y="1952625"/>
              <a:ext cx="3952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6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add_circle</a:t>
              </a:r>
              <a:r>
                <a:rPr b="1" lang="en" sz="1240">
                  <a:solidFill>
                    <a:srgbClr val="5B2C6F"/>
                  </a:solidFill>
                  <a:latin typeface="Play"/>
                  <a:ea typeface="Play"/>
                  <a:cs typeface="Play"/>
                  <a:sym typeface="Play"/>
                </a:rPr>
                <a:t>Mulig verdi</a:t>
              </a:r>
              <a:endParaRPr sz="1085"/>
            </a:p>
          </p:txBody>
        </p:sp>
        <p:sp>
          <p:nvSpPr>
            <p:cNvPr id="572" name="Google Shape;572;p48"/>
            <p:cNvSpPr txBox="1"/>
            <p:nvPr/>
          </p:nvSpPr>
          <p:spPr>
            <a:xfrm>
              <a:off x="514350" y="2524125"/>
              <a:ext cx="39528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Raskere sortering og prioritering av hasteoppgaver.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Økt effektivitet ved store bildevolumer og høy arbeidsbelastning.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Fungerer som et "ekstra blikk" for økt trygghet, ikke nødvendigvis som en erstatning for klinikeren.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3" name="Google Shape;573;p48"/>
          <p:cNvGrpSpPr/>
          <p:nvPr/>
        </p:nvGrpSpPr>
        <p:grpSpPr>
          <a:xfrm>
            <a:off x="4648200" y="1952625"/>
            <a:ext cx="3952800" cy="2571900"/>
            <a:chOff x="4648200" y="1952625"/>
            <a:chExt cx="3952800" cy="2571900"/>
          </a:xfrm>
        </p:grpSpPr>
        <p:sp>
          <p:nvSpPr>
            <p:cNvPr id="574" name="Google Shape;574;p48"/>
            <p:cNvSpPr/>
            <p:nvPr/>
          </p:nvSpPr>
          <p:spPr>
            <a:xfrm>
              <a:off x="4648200" y="1952625"/>
              <a:ext cx="3952800" cy="2571900"/>
            </a:xfrm>
            <a:prstGeom prst="roundRect">
              <a:avLst>
                <a:gd fmla="val 555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8"/>
            <p:cNvSpPr txBox="1"/>
            <p:nvPr/>
          </p:nvSpPr>
          <p:spPr>
            <a:xfrm>
              <a:off x="4648200" y="1952625"/>
              <a:ext cx="3952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6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r>
                <a:rPr b="1" lang="en" sz="1240">
                  <a:solidFill>
                    <a:srgbClr val="5B2C6F"/>
                  </a:solidFill>
                  <a:latin typeface="Play"/>
                  <a:ea typeface="Play"/>
                  <a:cs typeface="Play"/>
                  <a:sym typeface="Play"/>
                </a:rPr>
                <a:t>Viktige spørsmål</a:t>
              </a:r>
              <a:endParaRPr sz="1085"/>
            </a:p>
          </p:txBody>
        </p:sp>
        <p:sp>
          <p:nvSpPr>
            <p:cNvPr id="576" name="Google Shape;576;p48"/>
            <p:cNvSpPr txBox="1"/>
            <p:nvPr/>
          </p:nvSpPr>
          <p:spPr>
            <a:xfrm>
              <a:off x="4648200" y="2524125"/>
              <a:ext cx="39528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Hvordan og i hvilken klinisk setting er systemet validert?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Hva slags feil er typiske for systemet?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Hvordan påvirker AI-markeringene klinikerens oppmerksomhet og endelige beslutning?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7" name="Google Shape;577;p48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uke03-dyplæring/03_medisinsk_bildeklassifikasjon_MR.ipynb</a:t>
            </a:r>
            <a:endParaRPr sz="1100"/>
          </a:p>
        </p:txBody>
      </p:sp>
      <p:pic>
        <p:nvPicPr>
          <p:cNvPr id="578" name="Google Shape;578;p4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006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9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9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585" name="Google Shape;585;p49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Hva AI ofte er god på</a:t>
            </a:r>
            <a:endParaRPr sz="1100"/>
          </a:p>
        </p:txBody>
      </p:sp>
      <p:grpSp>
        <p:nvGrpSpPr>
          <p:cNvPr id="586" name="Google Shape;586;p49"/>
          <p:cNvGrpSpPr/>
          <p:nvPr/>
        </p:nvGrpSpPr>
        <p:grpSpPr>
          <a:xfrm>
            <a:off x="514350" y="1333500"/>
            <a:ext cx="2571900" cy="2667000"/>
            <a:chOff x="514350" y="1333500"/>
            <a:chExt cx="2571900" cy="2667000"/>
          </a:xfrm>
        </p:grpSpPr>
        <p:sp>
          <p:nvSpPr>
            <p:cNvPr id="587" name="Google Shape;587;p49"/>
            <p:cNvSpPr/>
            <p:nvPr/>
          </p:nvSpPr>
          <p:spPr>
            <a:xfrm>
              <a:off x="514350" y="1333500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9"/>
            <p:cNvSpPr txBox="1"/>
            <p:nvPr/>
          </p:nvSpPr>
          <p:spPr>
            <a:xfrm>
              <a:off x="609600" y="1428750"/>
              <a:ext cx="2381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Mønstergjenkjenning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AI er ekstremt effektiv til å finne sammenhenger i store og komplekse datamengder som er uoversiktlige for mennesker.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9" name="Google Shape;589;p49"/>
          <p:cNvGrpSpPr/>
          <p:nvPr/>
        </p:nvGrpSpPr>
        <p:grpSpPr>
          <a:xfrm>
            <a:off x="3286125" y="1333500"/>
            <a:ext cx="2571900" cy="2667000"/>
            <a:chOff x="3286125" y="1333500"/>
            <a:chExt cx="2571900" cy="2667000"/>
          </a:xfrm>
        </p:grpSpPr>
        <p:sp>
          <p:nvSpPr>
            <p:cNvPr id="590" name="Google Shape;590;p49"/>
            <p:cNvSpPr/>
            <p:nvPr/>
          </p:nvSpPr>
          <p:spPr>
            <a:xfrm>
              <a:off x="3286125" y="1333500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9"/>
            <p:cNvSpPr txBox="1"/>
            <p:nvPr/>
          </p:nvSpPr>
          <p:spPr>
            <a:xfrm>
              <a:off x="3381375" y="1428750"/>
              <a:ext cx="2381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Skalerbarhet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Håndterer repetitive oppgaver uten tretthet, og kan skaleres til å utføre tusenvis av analyser samtidig.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2" name="Google Shape;592;p49"/>
          <p:cNvGrpSpPr/>
          <p:nvPr/>
        </p:nvGrpSpPr>
        <p:grpSpPr>
          <a:xfrm>
            <a:off x="6057900" y="1333500"/>
            <a:ext cx="2571900" cy="2667000"/>
            <a:chOff x="6057900" y="1333500"/>
            <a:chExt cx="2571900" cy="2667000"/>
          </a:xfrm>
        </p:grpSpPr>
        <p:sp>
          <p:nvSpPr>
            <p:cNvPr id="593" name="Google Shape;593;p49"/>
            <p:cNvSpPr/>
            <p:nvPr/>
          </p:nvSpPr>
          <p:spPr>
            <a:xfrm>
              <a:off x="6057900" y="1333500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9"/>
            <p:cNvSpPr txBox="1"/>
            <p:nvPr/>
          </p:nvSpPr>
          <p:spPr>
            <a:xfrm>
              <a:off x="6153150" y="1428750"/>
              <a:ext cx="2381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Raske utkast</a:t>
              </a:r>
              <a:endParaRPr b="1" sz="14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God på forslag, sortering og generering av førsteutkast, som sparer tid i den kreative eller administrative prosessen.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0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50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601" name="Google Shape;601;p50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Hva AI ofte er dårlig på</a:t>
            </a:r>
            <a:endParaRPr sz="1100"/>
          </a:p>
        </p:txBody>
      </p:sp>
      <p:grpSp>
        <p:nvGrpSpPr>
          <p:cNvPr id="602" name="Google Shape;602;p50"/>
          <p:cNvGrpSpPr/>
          <p:nvPr/>
        </p:nvGrpSpPr>
        <p:grpSpPr>
          <a:xfrm>
            <a:off x="514350" y="1333500"/>
            <a:ext cx="8096175" cy="2762175"/>
            <a:chOff x="514350" y="1333500"/>
            <a:chExt cx="8096175" cy="2762175"/>
          </a:xfrm>
        </p:grpSpPr>
        <p:grpSp>
          <p:nvGrpSpPr>
            <p:cNvPr id="603" name="Google Shape;603;p50"/>
            <p:cNvGrpSpPr/>
            <p:nvPr/>
          </p:nvGrpSpPr>
          <p:grpSpPr>
            <a:xfrm>
              <a:off x="514350" y="1333500"/>
              <a:ext cx="3952800" cy="1285800"/>
              <a:chOff x="514350" y="1333500"/>
              <a:chExt cx="3952800" cy="1285800"/>
            </a:xfrm>
          </p:grpSpPr>
          <p:sp>
            <p:nvSpPr>
              <p:cNvPr id="604" name="Google Shape;604;p50"/>
              <p:cNvSpPr/>
              <p:nvPr/>
            </p:nvSpPr>
            <p:spPr>
              <a:xfrm>
                <a:off x="514350" y="1333500"/>
                <a:ext cx="3952800" cy="1285800"/>
              </a:xfrm>
              <a:prstGeom prst="roundRect">
                <a:avLst>
                  <a:gd fmla="val 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50"/>
              <p:cNvSpPr txBox="1"/>
              <p:nvPr/>
            </p:nvSpPr>
            <p:spPr>
              <a:xfrm>
                <a:off x="514350" y="1333500"/>
                <a:ext cx="39528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4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204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19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Dyp klinisk kontekstforståelse</a:t>
                </a:r>
                <a:endParaRPr b="1" sz="119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AI mangler ofte evnen til å se det fulle pasientbildet og kliniske nyanser.</a:t>
                </a:r>
                <a:endParaRPr b="0" sz="935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p50"/>
            <p:cNvGrpSpPr/>
            <p:nvPr/>
          </p:nvGrpSpPr>
          <p:grpSpPr>
            <a:xfrm>
              <a:off x="4657725" y="1333500"/>
              <a:ext cx="3952800" cy="1285800"/>
              <a:chOff x="4657725" y="1333500"/>
              <a:chExt cx="3952800" cy="1285800"/>
            </a:xfrm>
          </p:grpSpPr>
          <p:sp>
            <p:nvSpPr>
              <p:cNvPr id="607" name="Google Shape;607;p50"/>
              <p:cNvSpPr/>
              <p:nvPr/>
            </p:nvSpPr>
            <p:spPr>
              <a:xfrm>
                <a:off x="4657725" y="1333500"/>
                <a:ext cx="3952800" cy="1285800"/>
              </a:xfrm>
              <a:prstGeom prst="roundRect">
                <a:avLst>
                  <a:gd fmla="val 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50"/>
              <p:cNvSpPr txBox="1"/>
              <p:nvPr/>
            </p:nvSpPr>
            <p:spPr>
              <a:xfrm>
                <a:off x="4657725" y="1333500"/>
                <a:ext cx="39528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4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visibility_off</a:t>
                </a:r>
                <a:endParaRPr sz="204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19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Manglende representasjon</a:t>
                </a:r>
                <a:endParaRPr b="1" sz="119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Vanskelig for AI å vite hva som ikke er representert i treningsdataene.</a:t>
                </a:r>
                <a:endParaRPr b="0" sz="935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9" name="Google Shape;609;p50"/>
            <p:cNvGrpSpPr/>
            <p:nvPr/>
          </p:nvGrpSpPr>
          <p:grpSpPr>
            <a:xfrm>
              <a:off x="514350" y="2809875"/>
              <a:ext cx="3952800" cy="1285800"/>
              <a:chOff x="514350" y="2809875"/>
              <a:chExt cx="3952800" cy="1285800"/>
            </a:xfrm>
          </p:grpSpPr>
          <p:sp>
            <p:nvSpPr>
              <p:cNvPr id="610" name="Google Shape;610;p50"/>
              <p:cNvSpPr/>
              <p:nvPr/>
            </p:nvSpPr>
            <p:spPr>
              <a:xfrm>
                <a:off x="514350" y="2809875"/>
                <a:ext cx="3952800" cy="1285800"/>
              </a:xfrm>
              <a:prstGeom prst="roundRect">
                <a:avLst>
                  <a:gd fmla="val 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50"/>
              <p:cNvSpPr txBox="1"/>
              <p:nvPr/>
            </p:nvSpPr>
            <p:spPr>
              <a:xfrm>
                <a:off x="514350" y="2809875"/>
                <a:ext cx="39528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4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gavel</a:t>
                </a:r>
                <a:endParaRPr sz="204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19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Ansvar og etikk</a:t>
                </a:r>
                <a:endParaRPr b="1" sz="119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Å forstå ansvar, konsekvenser og utføre komplekse etiske avveininger.</a:t>
                </a:r>
                <a:endParaRPr b="0" sz="935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2" name="Google Shape;612;p50"/>
            <p:cNvGrpSpPr/>
            <p:nvPr/>
          </p:nvGrpSpPr>
          <p:grpSpPr>
            <a:xfrm>
              <a:off x="4657725" y="2809875"/>
              <a:ext cx="3952800" cy="1285800"/>
              <a:chOff x="4657725" y="2809875"/>
              <a:chExt cx="3952800" cy="1285800"/>
            </a:xfrm>
          </p:grpSpPr>
          <p:sp>
            <p:nvSpPr>
              <p:cNvPr id="613" name="Google Shape;613;p50"/>
              <p:cNvSpPr/>
              <p:nvPr/>
            </p:nvSpPr>
            <p:spPr>
              <a:xfrm>
                <a:off x="4657725" y="2809875"/>
                <a:ext cx="3952800" cy="1285800"/>
              </a:xfrm>
              <a:prstGeom prst="roundRect">
                <a:avLst>
                  <a:gd fmla="val 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50"/>
              <p:cNvSpPr txBox="1"/>
              <p:nvPr/>
            </p:nvSpPr>
            <p:spPr>
              <a:xfrm>
                <a:off x="4657725" y="2809875"/>
                <a:ext cx="39528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2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new_releases</a:t>
                </a:r>
                <a:endParaRPr sz="222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295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Nye situasjoner</a:t>
                </a:r>
                <a:endParaRPr b="1" sz="1295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18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Å være pålitelig i helt nye eller uforutsette kliniske situasjoner.</a:t>
                </a:r>
                <a:endParaRPr b="0" sz="1018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1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1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621" name="Google Shape;621;p51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Hva klinikere bør spørre om først</a:t>
            </a:r>
            <a:endParaRPr sz="1100"/>
          </a:p>
        </p:txBody>
      </p:sp>
      <p:grpSp>
        <p:nvGrpSpPr>
          <p:cNvPr id="622" name="Google Shape;622;p51"/>
          <p:cNvGrpSpPr/>
          <p:nvPr/>
        </p:nvGrpSpPr>
        <p:grpSpPr>
          <a:xfrm>
            <a:off x="514350" y="1333500"/>
            <a:ext cx="3905400" cy="1428900"/>
            <a:chOff x="514350" y="1333500"/>
            <a:chExt cx="3905400" cy="1428900"/>
          </a:xfrm>
        </p:grpSpPr>
        <p:sp>
          <p:nvSpPr>
            <p:cNvPr id="623" name="Google Shape;623;p51"/>
            <p:cNvSpPr/>
            <p:nvPr/>
          </p:nvSpPr>
          <p:spPr>
            <a:xfrm>
              <a:off x="514350" y="133350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51"/>
            <p:cNvSpPr txBox="1"/>
            <p:nvPr/>
          </p:nvSpPr>
          <p:spPr>
            <a:xfrm>
              <a:off x="514350" y="133350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Hvilket problem er dette ment å løse?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Forstå hensikten og det faktiske kliniske behovet bak verktøyet.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5" name="Google Shape;625;p51"/>
          <p:cNvGrpSpPr/>
          <p:nvPr/>
        </p:nvGrpSpPr>
        <p:grpSpPr>
          <a:xfrm>
            <a:off x="4705350" y="1333500"/>
            <a:ext cx="3905400" cy="1428900"/>
            <a:chOff x="4705350" y="1333500"/>
            <a:chExt cx="3905400" cy="1428900"/>
          </a:xfrm>
        </p:grpSpPr>
        <p:sp>
          <p:nvSpPr>
            <p:cNvPr id="626" name="Google Shape;626;p51"/>
            <p:cNvSpPr/>
            <p:nvPr/>
          </p:nvSpPr>
          <p:spPr>
            <a:xfrm>
              <a:off x="4705350" y="133350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51"/>
            <p:cNvSpPr txBox="1"/>
            <p:nvPr/>
          </p:nvSpPr>
          <p:spPr>
            <a:xfrm>
              <a:off x="4705350" y="133350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swap_horiz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Hva er input og hva er output?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Hvilke data går inn, og hva slags anbefaling eller prediksjon kommer ut?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8" name="Google Shape;628;p51"/>
          <p:cNvGrpSpPr/>
          <p:nvPr/>
        </p:nvGrpSpPr>
        <p:grpSpPr>
          <a:xfrm>
            <a:off x="514350" y="2952750"/>
            <a:ext cx="3905400" cy="1428900"/>
            <a:chOff x="514350" y="2952750"/>
            <a:chExt cx="3905400" cy="1428900"/>
          </a:xfrm>
        </p:grpSpPr>
        <p:sp>
          <p:nvSpPr>
            <p:cNvPr id="629" name="Google Shape;629;p51"/>
            <p:cNvSpPr/>
            <p:nvPr/>
          </p:nvSpPr>
          <p:spPr>
            <a:xfrm>
              <a:off x="514350" y="2952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51"/>
            <p:cNvSpPr txBox="1"/>
            <p:nvPr/>
          </p:nvSpPr>
          <p:spPr>
            <a:xfrm>
              <a:off x="514350" y="295275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warning_amber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Hvem påvirkes hvis systemet tar feil?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Vurder risiko for pasientsikkerhet og konsekvenser ved feilaktige svar.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1" name="Google Shape;631;p51"/>
          <p:cNvGrpSpPr/>
          <p:nvPr/>
        </p:nvGrpSpPr>
        <p:grpSpPr>
          <a:xfrm>
            <a:off x="4705350" y="2952750"/>
            <a:ext cx="3905400" cy="1428900"/>
            <a:chOff x="4705350" y="2952750"/>
            <a:chExt cx="3905400" cy="1428900"/>
          </a:xfrm>
        </p:grpSpPr>
        <p:sp>
          <p:nvSpPr>
            <p:cNvPr id="632" name="Google Shape;632;p51"/>
            <p:cNvSpPr/>
            <p:nvPr/>
          </p:nvSpPr>
          <p:spPr>
            <a:xfrm>
              <a:off x="4705350" y="2952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51"/>
            <p:cNvSpPr txBox="1"/>
            <p:nvPr/>
          </p:nvSpPr>
          <p:spPr>
            <a:xfrm>
              <a:off x="4705350" y="295275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play_circle_outline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Hva skjer i praksis ved anbefaling?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Hvordan påvirker systemet den faktiske arbeidsflyten og beslutningene.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2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52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640" name="Google Shape;640;p52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Mini-case 1: høy risiko for sepsis</a:t>
            </a:r>
            <a:endParaRPr sz="1100"/>
          </a:p>
        </p:txBody>
      </p:sp>
      <p:grpSp>
        <p:nvGrpSpPr>
          <p:cNvPr id="641" name="Google Shape;641;p52"/>
          <p:cNvGrpSpPr/>
          <p:nvPr/>
        </p:nvGrpSpPr>
        <p:grpSpPr>
          <a:xfrm>
            <a:off x="514350" y="1238250"/>
            <a:ext cx="8115300" cy="571500"/>
            <a:chOff x="514350" y="1238250"/>
            <a:chExt cx="8115300" cy="571500"/>
          </a:xfrm>
        </p:grpSpPr>
        <p:sp>
          <p:nvSpPr>
            <p:cNvPr id="642" name="Google Shape;642;p52"/>
            <p:cNvSpPr/>
            <p:nvPr/>
          </p:nvSpPr>
          <p:spPr>
            <a:xfrm>
              <a:off x="514350" y="1238250"/>
              <a:ext cx="8115300" cy="571500"/>
            </a:xfrm>
            <a:prstGeom prst="roundRect">
              <a:avLst>
                <a:gd fmla="val 20000" name="adj"/>
              </a:avLst>
            </a:prstGeom>
            <a:solidFill>
              <a:srgbClr val="7D3C98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52"/>
            <p:cNvSpPr txBox="1"/>
            <p:nvPr/>
          </p:nvSpPr>
          <p:spPr>
            <a:xfrm>
              <a:off x="514350" y="1238250"/>
              <a:ext cx="8115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B2C6F"/>
                  </a:solidFill>
                  <a:latin typeface="Play"/>
                  <a:ea typeface="Play"/>
                  <a:cs typeface="Play"/>
                  <a:sym typeface="Play"/>
                </a:rPr>
                <a:t>Scenarie: Et AI-system markerer høy risiko for sepsis</a:t>
              </a:r>
              <a:endParaRPr b="1" sz="1400">
                <a:solidFill>
                  <a:srgbClr val="5B2C6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644" name="Google Shape;644;p52"/>
          <p:cNvGrpSpPr/>
          <p:nvPr/>
        </p:nvGrpSpPr>
        <p:grpSpPr>
          <a:xfrm>
            <a:off x="514350" y="2000250"/>
            <a:ext cx="2514600" cy="2190900"/>
            <a:chOff x="514350" y="2000250"/>
            <a:chExt cx="2514600" cy="2190900"/>
          </a:xfrm>
        </p:grpSpPr>
        <p:sp>
          <p:nvSpPr>
            <p:cNvPr id="645" name="Google Shape;645;p52"/>
            <p:cNvSpPr/>
            <p:nvPr/>
          </p:nvSpPr>
          <p:spPr>
            <a:xfrm>
              <a:off x="514350" y="2000250"/>
              <a:ext cx="2514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52"/>
            <p:cNvSpPr txBox="1"/>
            <p:nvPr/>
          </p:nvSpPr>
          <p:spPr>
            <a:xfrm>
              <a:off x="514350" y="2000250"/>
              <a:ext cx="25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Datagrunnlag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Hva vil du vite om datagrunnlaget som modellen er trent på?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7" name="Google Shape;647;p52"/>
          <p:cNvGrpSpPr/>
          <p:nvPr/>
        </p:nvGrpSpPr>
        <p:grpSpPr>
          <a:xfrm>
            <a:off x="3314700" y="2000250"/>
            <a:ext cx="2514600" cy="2190900"/>
            <a:chOff x="3314700" y="2000250"/>
            <a:chExt cx="2514600" cy="2190900"/>
          </a:xfrm>
        </p:grpSpPr>
        <p:sp>
          <p:nvSpPr>
            <p:cNvPr id="648" name="Google Shape;648;p52"/>
            <p:cNvSpPr/>
            <p:nvPr/>
          </p:nvSpPr>
          <p:spPr>
            <a:xfrm>
              <a:off x="3314700" y="2000250"/>
              <a:ext cx="2514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52"/>
            <p:cNvSpPr txBox="1"/>
            <p:nvPr/>
          </p:nvSpPr>
          <p:spPr>
            <a:xfrm>
              <a:off x="3314700" y="2000250"/>
              <a:ext cx="25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rule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Feilmarginer &amp; Terskler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Hva er de kritiske tersklene for alarm, og hvilke feilmarginer opererer systemet med?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0" name="Google Shape;650;p52"/>
          <p:cNvGrpSpPr/>
          <p:nvPr/>
        </p:nvGrpSpPr>
        <p:grpSpPr>
          <a:xfrm>
            <a:off x="6115050" y="2000250"/>
            <a:ext cx="2514600" cy="2190900"/>
            <a:chOff x="6115050" y="2000250"/>
            <a:chExt cx="2514600" cy="2190900"/>
          </a:xfrm>
        </p:grpSpPr>
        <p:sp>
          <p:nvSpPr>
            <p:cNvPr id="651" name="Google Shape;651;p52"/>
            <p:cNvSpPr/>
            <p:nvPr/>
          </p:nvSpPr>
          <p:spPr>
            <a:xfrm>
              <a:off x="6115050" y="2000250"/>
              <a:ext cx="2514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52"/>
            <p:cNvSpPr txBox="1"/>
            <p:nvPr/>
          </p:nvSpPr>
          <p:spPr>
            <a:xfrm>
              <a:off x="6115050" y="2000250"/>
              <a:ext cx="25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Klinisk Arbeidsflyt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Hvordan skal dette varselet integreres i den praktiske hverdagen på avdelingen?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3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3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659" name="Google Shape;659;p53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Fra fascinasjon til vurdering</a:t>
            </a:r>
            <a:endParaRPr sz="1100"/>
          </a:p>
        </p:txBody>
      </p:sp>
      <p:grpSp>
        <p:nvGrpSpPr>
          <p:cNvPr id="660" name="Google Shape;660;p53"/>
          <p:cNvGrpSpPr/>
          <p:nvPr/>
        </p:nvGrpSpPr>
        <p:grpSpPr>
          <a:xfrm>
            <a:off x="509588" y="1328738"/>
            <a:ext cx="8124900" cy="962100"/>
            <a:chOff x="509588" y="1328738"/>
            <a:chExt cx="8124900" cy="962100"/>
          </a:xfrm>
        </p:grpSpPr>
        <p:pic>
          <p:nvPicPr>
            <p:cNvPr id="661" name="Google Shape;661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9588" y="1328738"/>
              <a:ext cx="8124900" cy="96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2" name="Google Shape;662;p53"/>
            <p:cNvSpPr txBox="1"/>
            <p:nvPr/>
          </p:nvSpPr>
          <p:spPr>
            <a:xfrm>
              <a:off x="514350" y="1333500"/>
              <a:ext cx="8115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38125" spcFirstLastPara="1" rIns="23812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5B2C6F"/>
                  </a:solidFill>
                  <a:latin typeface="Play"/>
                  <a:ea typeface="Play"/>
                  <a:cs typeface="Play"/>
                  <a:sym typeface="Play"/>
                </a:rPr>
                <a:t>Ikke spør bare om systemet fungerer</a:t>
              </a:r>
              <a:endParaRPr b="1" sz="1600">
                <a:solidFill>
                  <a:srgbClr val="5B2C6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663" name="Google Shape;663;p53"/>
          <p:cNvGrpSpPr/>
          <p:nvPr/>
        </p:nvGrpSpPr>
        <p:grpSpPr>
          <a:xfrm>
            <a:off x="514350" y="2476500"/>
            <a:ext cx="3943200" cy="1905000"/>
            <a:chOff x="514350" y="2476500"/>
            <a:chExt cx="3943200" cy="1905000"/>
          </a:xfrm>
        </p:grpSpPr>
        <p:sp>
          <p:nvSpPr>
            <p:cNvPr id="664" name="Google Shape;664;p53"/>
            <p:cNvSpPr/>
            <p:nvPr/>
          </p:nvSpPr>
          <p:spPr>
            <a:xfrm>
              <a:off x="514350" y="2476500"/>
              <a:ext cx="3943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53"/>
            <p:cNvSpPr txBox="1"/>
            <p:nvPr/>
          </p:nvSpPr>
          <p:spPr>
            <a:xfrm>
              <a:off x="514350" y="2476500"/>
              <a:ext cx="3943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Kontekst og konsekvens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Spør for hvem det fungerer, i hvilken setting og med hvilke konsekvenser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6" name="Google Shape;666;p53"/>
          <p:cNvGrpSpPr/>
          <p:nvPr/>
        </p:nvGrpSpPr>
        <p:grpSpPr>
          <a:xfrm>
            <a:off x="4686300" y="2476500"/>
            <a:ext cx="3943200" cy="1905000"/>
            <a:chOff x="4686300" y="2476500"/>
            <a:chExt cx="3943200" cy="1905000"/>
          </a:xfrm>
        </p:grpSpPr>
        <p:sp>
          <p:nvSpPr>
            <p:cNvPr id="667" name="Google Shape;667;p53"/>
            <p:cNvSpPr/>
            <p:nvPr/>
          </p:nvSpPr>
          <p:spPr>
            <a:xfrm>
              <a:off x="4686300" y="2476500"/>
              <a:ext cx="3943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53"/>
            <p:cNvSpPr txBox="1"/>
            <p:nvPr/>
          </p:nvSpPr>
          <p:spPr>
            <a:xfrm>
              <a:off x="4686300" y="2476500"/>
              <a:ext cx="39432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Baseline og forbedring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Spør hva som er baseline, og hva som faktisk blir bedre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4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4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1</a:t>
            </a:r>
            <a:endParaRPr sz="1100"/>
          </a:p>
        </p:txBody>
      </p:sp>
      <p:sp>
        <p:nvSpPr>
          <p:cNvPr id="675" name="Google Shape;675;p54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Oppsummering av del 1</a:t>
            </a:r>
            <a:endParaRPr sz="1100"/>
          </a:p>
        </p:txBody>
      </p:sp>
      <p:grpSp>
        <p:nvGrpSpPr>
          <p:cNvPr id="676" name="Google Shape;676;p54"/>
          <p:cNvGrpSpPr/>
          <p:nvPr/>
        </p:nvGrpSpPr>
        <p:grpSpPr>
          <a:xfrm>
            <a:off x="514350" y="1524000"/>
            <a:ext cx="2514600" cy="2190900"/>
            <a:chOff x="514350" y="1524000"/>
            <a:chExt cx="2514600" cy="2190900"/>
          </a:xfrm>
        </p:grpSpPr>
        <p:sp>
          <p:nvSpPr>
            <p:cNvPr id="677" name="Google Shape;677;p54"/>
            <p:cNvSpPr/>
            <p:nvPr/>
          </p:nvSpPr>
          <p:spPr>
            <a:xfrm>
              <a:off x="514350" y="1524000"/>
              <a:ext cx="2514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54"/>
            <p:cNvSpPr txBox="1"/>
            <p:nvPr/>
          </p:nvSpPr>
          <p:spPr>
            <a:xfrm>
              <a:off x="514350" y="1524000"/>
              <a:ext cx="25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category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Verktøyfamilier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AI er ikke én ting, men flere familier av verktøy og modeller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54"/>
          <p:cNvGrpSpPr/>
          <p:nvPr/>
        </p:nvGrpSpPr>
        <p:grpSpPr>
          <a:xfrm>
            <a:off x="3314700" y="1524000"/>
            <a:ext cx="2514600" cy="2190900"/>
            <a:chOff x="3314700" y="1524000"/>
            <a:chExt cx="2514600" cy="2190900"/>
          </a:xfrm>
        </p:grpSpPr>
        <p:sp>
          <p:nvSpPr>
            <p:cNvPr id="680" name="Google Shape;680;p54"/>
            <p:cNvSpPr/>
            <p:nvPr/>
          </p:nvSpPr>
          <p:spPr>
            <a:xfrm>
              <a:off x="3314700" y="1524000"/>
              <a:ext cx="2514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54"/>
            <p:cNvSpPr txBox="1"/>
            <p:nvPr/>
          </p:nvSpPr>
          <p:spPr>
            <a:xfrm>
              <a:off x="3314700" y="1524000"/>
              <a:ext cx="25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health_and_safety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Muligheter &amp; Risiko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Helse er et felt med både store muligheter og høy risiko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2" name="Google Shape;682;p54"/>
          <p:cNvGrpSpPr/>
          <p:nvPr/>
        </p:nvGrpSpPr>
        <p:grpSpPr>
          <a:xfrm>
            <a:off x="6115050" y="1524000"/>
            <a:ext cx="2514600" cy="2190900"/>
            <a:chOff x="6115050" y="1524000"/>
            <a:chExt cx="2514600" cy="2190900"/>
          </a:xfrm>
        </p:grpSpPr>
        <p:sp>
          <p:nvSpPr>
            <p:cNvPr id="683" name="Google Shape;683;p54"/>
            <p:cNvSpPr/>
            <p:nvPr/>
          </p:nvSpPr>
          <p:spPr>
            <a:xfrm>
              <a:off x="6115050" y="1524000"/>
              <a:ext cx="2514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54"/>
            <p:cNvSpPr txBox="1"/>
            <p:nvPr/>
          </p:nvSpPr>
          <p:spPr>
            <a:xfrm>
              <a:off x="6115050" y="1524000"/>
              <a:ext cx="2514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8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Kontekst er nøkkelen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Klinisk nytte avhenger av kontekst, ikke bare teknologi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5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0" name="Google Shape;690;p55"/>
          <p:cNvGrpSpPr/>
          <p:nvPr/>
        </p:nvGrpSpPr>
        <p:grpSpPr>
          <a:xfrm>
            <a:off x="0" y="219075"/>
            <a:ext cx="9144000" cy="4924500"/>
            <a:chOff x="0" y="219075"/>
            <a:chExt cx="9144000" cy="4924500"/>
          </a:xfrm>
        </p:grpSpPr>
        <p:pic>
          <p:nvPicPr>
            <p:cNvPr descr="A minimalist, professional background for a medical AI presentation. Soft abstract shapes in lavender and white, suggesting data flow and healthcare connectivity. High-key lighting, clean and modern aesthetic." id="691" name="Google Shape;691;p55"/>
            <p:cNvPicPr preferRelativeResize="0"/>
            <p:nvPr/>
          </p:nvPicPr>
          <p:blipFill rotWithShape="1">
            <a:blip r:embed="rId3">
              <a:alphaModFix/>
            </a:blip>
            <a:srcRect b="0" l="0" r="0" t="4260"/>
            <a:stretch/>
          </p:blipFill>
          <p:spPr>
            <a:xfrm>
              <a:off x="0" y="219075"/>
              <a:ext cx="9144000" cy="492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2" name="Google Shape;692;p55"/>
            <p:cNvSpPr/>
            <p:nvPr/>
          </p:nvSpPr>
          <p:spPr>
            <a:xfrm>
              <a:off x="0" y="219075"/>
              <a:ext cx="9144000" cy="4924500"/>
            </a:xfrm>
            <a:prstGeom prst="rect">
              <a:avLst/>
            </a:prstGeom>
            <a:solidFill>
              <a:srgbClr val="FBF8EF">
                <a:alpha val="8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55"/>
            <p:cNvSpPr txBox="1"/>
            <p:nvPr/>
          </p:nvSpPr>
          <p:spPr>
            <a:xfrm>
              <a:off x="762000" y="1333500"/>
              <a:ext cx="7620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7D3C98"/>
                  </a:solidFill>
                  <a:latin typeface="Arial"/>
                  <a:ea typeface="Arial"/>
                  <a:cs typeface="Arial"/>
                  <a:sym typeface="Arial"/>
                </a:rPr>
                <a:t>Del 2</a:t>
              </a:r>
              <a:endParaRPr b="1" sz="1400">
                <a:solidFill>
                  <a:srgbClr val="7D3C9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Fra teknologi til trygg, nyttig og ansvarlig bruk i praksis</a:t>
              </a:r>
              <a:endParaRPr b="1" sz="42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0" i="1"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Seksjon om implementering, verifikasjon og klinisk beslutningsstøtte</a:t>
              </a:r>
              <a:endParaRPr b="0" i="1"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6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6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D3C98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b="1" sz="1000">
              <a:solidFill>
                <a:srgbClr val="7D3C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6"/>
          <p:cNvSpPr txBox="1"/>
          <p:nvPr/>
        </p:nvSpPr>
        <p:spPr>
          <a:xfrm>
            <a:off x="514350" y="651510"/>
            <a:ext cx="7955400" cy="4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Hva betyr det at en modell virker?</a:t>
            </a:r>
            <a:endParaRPr b="1" sz="2400">
              <a:solidFill>
                <a:srgbClr val="1F1A17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01" name="Google Shape;701;p56"/>
          <p:cNvGrpSpPr/>
          <p:nvPr/>
        </p:nvGrpSpPr>
        <p:grpSpPr>
          <a:xfrm>
            <a:off x="571500" y="1428750"/>
            <a:ext cx="2476500" cy="2857500"/>
            <a:chOff x="571500" y="1428750"/>
            <a:chExt cx="2476500" cy="2857500"/>
          </a:xfrm>
        </p:grpSpPr>
        <p:sp>
          <p:nvSpPr>
            <p:cNvPr id="702" name="Google Shape;702;p56"/>
            <p:cNvSpPr/>
            <p:nvPr/>
          </p:nvSpPr>
          <p:spPr>
            <a:xfrm>
              <a:off x="5715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56"/>
            <p:cNvSpPr txBox="1"/>
            <p:nvPr/>
          </p:nvSpPr>
          <p:spPr>
            <a:xfrm>
              <a:off x="5715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Utover ytelse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Høy ytelse i et datasett er ikke nok for å vurdere om en modell faktisk er nyttig.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56"/>
          <p:cNvGrpSpPr/>
          <p:nvPr/>
        </p:nvGrpSpPr>
        <p:grpSpPr>
          <a:xfrm>
            <a:off x="3333750" y="1428750"/>
            <a:ext cx="2476500" cy="2857500"/>
            <a:chOff x="3333750" y="1428750"/>
            <a:chExt cx="2476500" cy="2857500"/>
          </a:xfrm>
        </p:grpSpPr>
        <p:sp>
          <p:nvSpPr>
            <p:cNvPr id="705" name="Google Shape;705;p56"/>
            <p:cNvSpPr/>
            <p:nvPr/>
          </p:nvSpPr>
          <p:spPr>
            <a:xfrm>
              <a:off x="333375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56"/>
            <p:cNvSpPr txBox="1"/>
            <p:nvPr/>
          </p:nvSpPr>
          <p:spPr>
            <a:xfrm>
              <a:off x="333375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4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clinical_notes</a:t>
              </a:r>
              <a:endParaRPr sz="144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4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4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Klinisk relevans</a:t>
              </a:r>
              <a:endParaRPr b="1" sz="144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4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Vi må spørre om klinisk nytte, robusthet og praktisk bruk i en travel hverdag.</a:t>
              </a:r>
              <a:endParaRPr b="0" sz="104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7" name="Google Shape;707;p56"/>
          <p:cNvGrpSpPr/>
          <p:nvPr/>
        </p:nvGrpSpPr>
        <p:grpSpPr>
          <a:xfrm>
            <a:off x="6096000" y="1428750"/>
            <a:ext cx="2476500" cy="2857500"/>
            <a:chOff x="6096000" y="1428750"/>
            <a:chExt cx="2476500" cy="2857500"/>
          </a:xfrm>
        </p:grpSpPr>
        <p:sp>
          <p:nvSpPr>
            <p:cNvPr id="708" name="Google Shape;708;p56"/>
            <p:cNvSpPr/>
            <p:nvPr/>
          </p:nvSpPr>
          <p:spPr>
            <a:xfrm>
              <a:off x="60960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56"/>
            <p:cNvSpPr txBox="1"/>
            <p:nvPr/>
          </p:nvSpPr>
          <p:spPr>
            <a:xfrm>
              <a:off x="60960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Implementering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God teknologi kan fortsatt feile hvis den er dårlig implementert i arbeidsflyten.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7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7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716" name="Google Shape;716;p57"/>
          <p:cNvSpPr txBox="1"/>
          <p:nvPr/>
        </p:nvSpPr>
        <p:spPr>
          <a:xfrm>
            <a:off x="514350" y="651510"/>
            <a:ext cx="7955400" cy="4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Nøyaktighet er ikke hele historien</a:t>
            </a:r>
            <a:endParaRPr b="1" i="0" sz="2400">
              <a:solidFill>
                <a:srgbClr val="1F1A17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17" name="Google Shape;717;p57"/>
          <p:cNvGrpSpPr/>
          <p:nvPr/>
        </p:nvGrpSpPr>
        <p:grpSpPr>
          <a:xfrm>
            <a:off x="571500" y="1428750"/>
            <a:ext cx="2476500" cy="2857500"/>
            <a:chOff x="571500" y="1428750"/>
            <a:chExt cx="2476500" cy="2857500"/>
          </a:xfrm>
        </p:grpSpPr>
        <p:sp>
          <p:nvSpPr>
            <p:cNvPr id="718" name="Google Shape;718;p57"/>
            <p:cNvSpPr/>
            <p:nvPr/>
          </p:nvSpPr>
          <p:spPr>
            <a:xfrm>
              <a:off x="5715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57"/>
            <p:cNvSpPr txBox="1"/>
            <p:nvPr/>
          </p:nvSpPr>
          <p:spPr>
            <a:xfrm>
              <a:off x="5715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compare_arrows</a:t>
              </a:r>
              <a:endParaRPr b="0"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Ulike mål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Sensitivitet og spesifisitet sier ulike ting om modellens evne til å fange opp sykdom og friske.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0" name="Google Shape;720;p57"/>
          <p:cNvGrpSpPr/>
          <p:nvPr/>
        </p:nvGrpSpPr>
        <p:grpSpPr>
          <a:xfrm>
            <a:off x="3333750" y="1428750"/>
            <a:ext cx="2476500" cy="2857500"/>
            <a:chOff x="3333750" y="1428750"/>
            <a:chExt cx="2476500" cy="2857500"/>
          </a:xfrm>
        </p:grpSpPr>
        <p:sp>
          <p:nvSpPr>
            <p:cNvPr id="721" name="Google Shape;721;p57"/>
            <p:cNvSpPr/>
            <p:nvPr/>
          </p:nvSpPr>
          <p:spPr>
            <a:xfrm>
              <a:off x="333375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57"/>
            <p:cNvSpPr txBox="1"/>
            <p:nvPr/>
          </p:nvSpPr>
          <p:spPr>
            <a:xfrm>
              <a:off x="333375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b="0"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Kliniske kostnader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Falske positive og falske negative har ulike konsekvenser for pasient og ressursbruk.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3" name="Google Shape;723;p57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uke06-klinisk-praksis/02_klinisk_beslutningsstøtte_terskler_og_avveininger.ipynb</a:t>
            </a:r>
            <a:endParaRPr sz="1100"/>
          </a:p>
        </p:txBody>
      </p:sp>
      <p:grpSp>
        <p:nvGrpSpPr>
          <p:cNvPr id="724" name="Google Shape;724;p57"/>
          <p:cNvGrpSpPr/>
          <p:nvPr/>
        </p:nvGrpSpPr>
        <p:grpSpPr>
          <a:xfrm>
            <a:off x="6096000" y="1428750"/>
            <a:ext cx="2476500" cy="2857500"/>
            <a:chOff x="6096000" y="1428750"/>
            <a:chExt cx="2476500" cy="2857500"/>
          </a:xfrm>
        </p:grpSpPr>
        <p:sp>
          <p:nvSpPr>
            <p:cNvPr id="725" name="Google Shape;725;p57"/>
            <p:cNvSpPr/>
            <p:nvPr/>
          </p:nvSpPr>
          <p:spPr>
            <a:xfrm>
              <a:off x="60960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57"/>
            <p:cNvSpPr txBox="1"/>
            <p:nvPr/>
          </p:nvSpPr>
          <p:spPr>
            <a:xfrm>
              <a:off x="60960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rule</a:t>
              </a:r>
              <a:endParaRPr b="0"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Terskler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Valg av terskler og forståelse av konsekvenser må skje før verktøy tas i klinisk bruk.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7" name="Google Shape;727;p5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366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8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8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734" name="Google Shape;734;p58"/>
          <p:cNvSpPr txBox="1"/>
          <p:nvPr/>
        </p:nvSpPr>
        <p:spPr>
          <a:xfrm>
            <a:off x="514350" y="651510"/>
            <a:ext cx="7955400" cy="4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Kalibrering på klinisk språk</a:t>
            </a:r>
            <a:endParaRPr b="1" i="0" sz="2400">
              <a:solidFill>
                <a:srgbClr val="1F1A17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35" name="Google Shape;735;p58"/>
          <p:cNvGrpSpPr/>
          <p:nvPr/>
        </p:nvGrpSpPr>
        <p:grpSpPr>
          <a:xfrm>
            <a:off x="571500" y="1428750"/>
            <a:ext cx="2476500" cy="2857500"/>
            <a:chOff x="571500" y="1428750"/>
            <a:chExt cx="2476500" cy="2857500"/>
          </a:xfrm>
        </p:grpSpPr>
        <p:sp>
          <p:nvSpPr>
            <p:cNvPr id="736" name="Google Shape;736;p58"/>
            <p:cNvSpPr/>
            <p:nvPr/>
          </p:nvSpPr>
          <p:spPr>
            <a:xfrm>
              <a:off x="5715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58"/>
            <p:cNvSpPr txBox="1"/>
            <p:nvPr/>
          </p:nvSpPr>
          <p:spPr>
            <a:xfrm>
              <a:off x="5715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quiz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Sannsynlighet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Hvis modellen sier 10 prosent risiko, stemmer det omtrent med virkeligheten?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8" name="Google Shape;738;p58"/>
          <p:cNvGrpSpPr/>
          <p:nvPr/>
        </p:nvGrpSpPr>
        <p:grpSpPr>
          <a:xfrm>
            <a:off x="3333750" y="1428750"/>
            <a:ext cx="2476500" cy="2857500"/>
            <a:chOff x="3333750" y="1428750"/>
            <a:chExt cx="2476500" cy="2857500"/>
          </a:xfrm>
        </p:grpSpPr>
        <p:sp>
          <p:nvSpPr>
            <p:cNvPr id="739" name="Google Shape;739;p58"/>
            <p:cNvSpPr/>
            <p:nvPr/>
          </p:nvSpPr>
          <p:spPr>
            <a:xfrm>
              <a:off x="333375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58"/>
            <p:cNvSpPr txBox="1"/>
            <p:nvPr/>
          </p:nvSpPr>
          <p:spPr>
            <a:xfrm>
              <a:off x="333375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Beslutningsstøtte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Kalibrering er kritisk når tallene skal ligge til grunn for kliniske valg.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1" name="Google Shape;741;p58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uke06-klinisk-praksis/01_risikomodell_logistisk_regresjon_kalibrering_shap.ipynb</a:t>
            </a:r>
            <a:endParaRPr sz="1100"/>
          </a:p>
        </p:txBody>
      </p:sp>
      <p:grpSp>
        <p:nvGrpSpPr>
          <p:cNvPr id="742" name="Google Shape;742;p58"/>
          <p:cNvGrpSpPr/>
          <p:nvPr/>
        </p:nvGrpSpPr>
        <p:grpSpPr>
          <a:xfrm>
            <a:off x="6096000" y="1428750"/>
            <a:ext cx="2476500" cy="2857500"/>
            <a:chOff x="6096000" y="1428750"/>
            <a:chExt cx="2476500" cy="2857500"/>
          </a:xfrm>
        </p:grpSpPr>
        <p:sp>
          <p:nvSpPr>
            <p:cNvPr id="743" name="Google Shape;743;p58"/>
            <p:cNvSpPr/>
            <p:nvPr/>
          </p:nvSpPr>
          <p:spPr>
            <a:xfrm>
              <a:off x="60960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58"/>
            <p:cNvSpPr txBox="1"/>
            <p:nvPr/>
          </p:nvSpPr>
          <p:spPr>
            <a:xfrm>
              <a:off x="60960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warning_amber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Konsekvenser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Dårlig kalibrering kan gi falsk trygghet eller utløse unødige alarmer.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45" name="Google Shape;745;p5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7825" y="4766310"/>
            <a:ext cx="1026600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9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59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752" name="Google Shape;752;p59"/>
          <p:cNvSpPr txBox="1"/>
          <p:nvPr/>
        </p:nvSpPr>
        <p:spPr>
          <a:xfrm>
            <a:off x="514350" y="651510"/>
            <a:ext cx="7955400" cy="4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Hvorfor generalisering er vanskelig</a:t>
            </a:r>
            <a:endParaRPr b="1" i="0" sz="2400">
              <a:solidFill>
                <a:srgbClr val="1F1A17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53" name="Google Shape;753;p59"/>
          <p:cNvGrpSpPr/>
          <p:nvPr/>
        </p:nvGrpSpPr>
        <p:grpSpPr>
          <a:xfrm>
            <a:off x="571500" y="1428750"/>
            <a:ext cx="2476500" cy="2857500"/>
            <a:chOff x="571500" y="1428750"/>
            <a:chExt cx="2476500" cy="2857500"/>
          </a:xfrm>
        </p:grpSpPr>
        <p:sp>
          <p:nvSpPr>
            <p:cNvPr id="754" name="Google Shape;754;p59"/>
            <p:cNvSpPr/>
            <p:nvPr/>
          </p:nvSpPr>
          <p:spPr>
            <a:xfrm>
              <a:off x="5715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59"/>
            <p:cNvSpPr txBox="1"/>
            <p:nvPr/>
          </p:nvSpPr>
          <p:spPr>
            <a:xfrm>
              <a:off x="571500" y="1428750"/>
              <a:ext cx="24765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location_on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Stedlige ulikheter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En modell kan fungere godt ett sted og dårlig et annet.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6" name="Google Shape;756;p59"/>
          <p:cNvGrpSpPr/>
          <p:nvPr/>
        </p:nvGrpSpPr>
        <p:grpSpPr>
          <a:xfrm>
            <a:off x="3333750" y="1428750"/>
            <a:ext cx="2476500" cy="2857500"/>
            <a:chOff x="3333750" y="1428750"/>
            <a:chExt cx="2476500" cy="2857500"/>
          </a:xfrm>
        </p:grpSpPr>
        <p:sp>
          <p:nvSpPr>
            <p:cNvPr id="757" name="Google Shape;757;p59"/>
            <p:cNvSpPr/>
            <p:nvPr/>
          </p:nvSpPr>
          <p:spPr>
            <a:xfrm>
              <a:off x="333375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59"/>
            <p:cNvSpPr txBox="1"/>
            <p:nvPr/>
          </p:nvSpPr>
          <p:spPr>
            <a:xfrm>
              <a:off x="3333750" y="1428750"/>
              <a:ext cx="24765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Variasjon i klinikk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Pasientgrupper, utstyr og praksis kan variere betydelig mellom institusjoner.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9" name="Google Shape;759;p59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uke06-klinisk-praksis/03_validering_generalisering_og_subgrupper.ipynb</a:t>
            </a:r>
            <a:endParaRPr sz="1100"/>
          </a:p>
        </p:txBody>
      </p:sp>
      <p:grpSp>
        <p:nvGrpSpPr>
          <p:cNvPr id="760" name="Google Shape;760;p59"/>
          <p:cNvGrpSpPr/>
          <p:nvPr/>
        </p:nvGrpSpPr>
        <p:grpSpPr>
          <a:xfrm>
            <a:off x="6096000" y="1428750"/>
            <a:ext cx="2476500" cy="2857500"/>
            <a:chOff x="6096000" y="1428750"/>
            <a:chExt cx="2476500" cy="2857500"/>
          </a:xfrm>
        </p:grpSpPr>
        <p:sp>
          <p:nvSpPr>
            <p:cNvPr id="761" name="Google Shape;761;p59"/>
            <p:cNvSpPr/>
            <p:nvPr/>
          </p:nvSpPr>
          <p:spPr>
            <a:xfrm>
              <a:off x="60960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59"/>
            <p:cNvSpPr txBox="1"/>
            <p:nvPr/>
          </p:nvSpPr>
          <p:spPr>
            <a:xfrm>
              <a:off x="6096000" y="1428750"/>
              <a:ext cx="24765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Data i endring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Data i daglig drift ligner ikke alltid på de dataene som ble brukt under utvikling.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63" name="Google Shape;763;p5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40" r="30" t="0"/>
          <a:stretch/>
        </p:blipFill>
        <p:spPr>
          <a:xfrm>
            <a:off x="4420680" y="4766160"/>
            <a:ext cx="1026900" cy="1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0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60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770" name="Google Shape;770;p60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Distribusjonsskifte</a:t>
            </a:r>
            <a:endParaRPr sz="1100"/>
          </a:p>
        </p:txBody>
      </p:sp>
      <p:grpSp>
        <p:nvGrpSpPr>
          <p:cNvPr id="771" name="Google Shape;771;p60"/>
          <p:cNvGrpSpPr/>
          <p:nvPr/>
        </p:nvGrpSpPr>
        <p:grpSpPr>
          <a:xfrm>
            <a:off x="514350" y="1428750"/>
            <a:ext cx="1905000" cy="2857500"/>
            <a:chOff x="514350" y="1428750"/>
            <a:chExt cx="1905000" cy="2857500"/>
          </a:xfrm>
        </p:grpSpPr>
        <p:sp>
          <p:nvSpPr>
            <p:cNvPr id="772" name="Google Shape;772;p60"/>
            <p:cNvSpPr/>
            <p:nvPr/>
          </p:nvSpPr>
          <p:spPr>
            <a:xfrm>
              <a:off x="5143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0"/>
            <p:cNvSpPr txBox="1"/>
            <p:nvPr/>
          </p:nvSpPr>
          <p:spPr>
            <a:xfrm>
              <a:off x="5143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Pasienter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Pasientpopulasjoner endrer seg over tid, noe som påvirker modellens relevans.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4" name="Google Shape;774;p60"/>
          <p:cNvGrpSpPr/>
          <p:nvPr/>
        </p:nvGrpSpPr>
        <p:grpSpPr>
          <a:xfrm>
            <a:off x="2609850" y="1428750"/>
            <a:ext cx="1905000" cy="2857500"/>
            <a:chOff x="2609850" y="1428750"/>
            <a:chExt cx="1905000" cy="2857500"/>
          </a:xfrm>
        </p:grpSpPr>
        <p:sp>
          <p:nvSpPr>
            <p:cNvPr id="775" name="Google Shape;775;p60"/>
            <p:cNvSpPr/>
            <p:nvPr/>
          </p:nvSpPr>
          <p:spPr>
            <a:xfrm>
              <a:off x="26098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0"/>
            <p:cNvSpPr txBox="1"/>
            <p:nvPr/>
          </p:nvSpPr>
          <p:spPr>
            <a:xfrm>
              <a:off x="26098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Arbeidsflyt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Nye rutiner og endret klinisk praksis skaper gap mellom trening og drift.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7" name="Google Shape;777;p60"/>
          <p:cNvGrpSpPr/>
          <p:nvPr/>
        </p:nvGrpSpPr>
        <p:grpSpPr>
          <a:xfrm>
            <a:off x="4705350" y="1428750"/>
            <a:ext cx="1905000" cy="2857500"/>
            <a:chOff x="4705350" y="1428750"/>
            <a:chExt cx="1905000" cy="2857500"/>
          </a:xfrm>
        </p:grpSpPr>
        <p:sp>
          <p:nvSpPr>
            <p:cNvPr id="778" name="Google Shape;778;p60"/>
            <p:cNvSpPr/>
            <p:nvPr/>
          </p:nvSpPr>
          <p:spPr>
            <a:xfrm>
              <a:off x="47053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0"/>
            <p:cNvSpPr txBox="1"/>
            <p:nvPr/>
          </p:nvSpPr>
          <p:spPr>
            <a:xfrm>
              <a:off x="47053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Data-drift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Data endrer karakter over tid grunnet tekniske eller systemiske endringer.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60"/>
          <p:cNvGrpSpPr/>
          <p:nvPr/>
        </p:nvGrpSpPr>
        <p:grpSpPr>
          <a:xfrm>
            <a:off x="6800850" y="1428750"/>
            <a:ext cx="1905000" cy="2857500"/>
            <a:chOff x="6800850" y="1428750"/>
            <a:chExt cx="1905000" cy="2857500"/>
          </a:xfrm>
        </p:grpSpPr>
        <p:sp>
          <p:nvSpPr>
            <p:cNvPr id="781" name="Google Shape;781;p60"/>
            <p:cNvSpPr/>
            <p:nvPr/>
          </p:nvSpPr>
          <p:spPr>
            <a:xfrm>
              <a:off x="68008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0"/>
            <p:cNvSpPr txBox="1"/>
            <p:nvPr/>
          </p:nvSpPr>
          <p:spPr>
            <a:xfrm>
              <a:off x="68008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Monitorering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Modeller må monitoreres kontinuerlig, ikke bare lanseres.</a:t>
              </a:r>
              <a:endParaRPr b="1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1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61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789" name="Google Shape;789;p61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Subgrupper og rettferdighet</a:t>
            </a:r>
            <a:endParaRPr sz="1100"/>
          </a:p>
        </p:txBody>
      </p:sp>
      <p:grpSp>
        <p:nvGrpSpPr>
          <p:cNvPr id="790" name="Google Shape;790;p61"/>
          <p:cNvGrpSpPr/>
          <p:nvPr/>
        </p:nvGrpSpPr>
        <p:grpSpPr>
          <a:xfrm>
            <a:off x="571500" y="1428750"/>
            <a:ext cx="2476500" cy="2857500"/>
            <a:chOff x="571500" y="1428750"/>
            <a:chExt cx="2476500" cy="2857500"/>
          </a:xfrm>
        </p:grpSpPr>
        <p:sp>
          <p:nvSpPr>
            <p:cNvPr id="791" name="Google Shape;791;p61"/>
            <p:cNvSpPr/>
            <p:nvPr/>
          </p:nvSpPr>
          <p:spPr>
            <a:xfrm>
              <a:off x="5715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1"/>
            <p:cNvSpPr txBox="1"/>
            <p:nvPr/>
          </p:nvSpPr>
          <p:spPr>
            <a:xfrm>
              <a:off x="5715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diversity_3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Ulik ytelse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Samme modell kan ha ulik ytelse for ulike grupper.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3" name="Google Shape;793;p61"/>
          <p:cNvGrpSpPr/>
          <p:nvPr/>
        </p:nvGrpSpPr>
        <p:grpSpPr>
          <a:xfrm>
            <a:off x="3333750" y="1428750"/>
            <a:ext cx="2476500" cy="2857500"/>
            <a:chOff x="3333750" y="1428750"/>
            <a:chExt cx="2476500" cy="2857500"/>
          </a:xfrm>
        </p:grpSpPr>
        <p:sp>
          <p:nvSpPr>
            <p:cNvPr id="794" name="Google Shape;794;p61"/>
            <p:cNvSpPr/>
            <p:nvPr/>
          </p:nvSpPr>
          <p:spPr>
            <a:xfrm>
              <a:off x="333375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1"/>
            <p:cNvSpPr txBox="1"/>
            <p:nvPr/>
          </p:nvSpPr>
          <p:spPr>
            <a:xfrm>
              <a:off x="333375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Etisk spørsmål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Dette er både et faglig og et etisk spørsmål som krever oppmerksomhet.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6" name="Google Shape;796;p61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uke08-etikk-implementering/02_bias_rettferdighet.ipynb</a:t>
            </a:r>
            <a:endParaRPr sz="1100"/>
          </a:p>
        </p:txBody>
      </p:sp>
      <p:grpSp>
        <p:nvGrpSpPr>
          <p:cNvPr id="797" name="Google Shape;797;p61"/>
          <p:cNvGrpSpPr/>
          <p:nvPr/>
        </p:nvGrpSpPr>
        <p:grpSpPr>
          <a:xfrm>
            <a:off x="6096000" y="1428750"/>
            <a:ext cx="2476500" cy="2857500"/>
            <a:chOff x="6096000" y="1428750"/>
            <a:chExt cx="2476500" cy="2857500"/>
          </a:xfrm>
        </p:grpSpPr>
        <p:sp>
          <p:nvSpPr>
            <p:cNvPr id="798" name="Google Shape;798;p61"/>
            <p:cNvSpPr/>
            <p:nvPr/>
          </p:nvSpPr>
          <p:spPr>
            <a:xfrm>
              <a:off x="60960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1"/>
            <p:cNvSpPr txBox="1"/>
            <p:nvPr/>
          </p:nvSpPr>
          <p:spPr>
            <a:xfrm>
              <a:off x="60960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balance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Rettferdighet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Lik gjennomsnittsytelse er ikke det samme som rettferdig ytelse.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00" name="Google Shape;800;p6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40" r="30" t="0"/>
          <a:stretch/>
        </p:blipFill>
        <p:spPr>
          <a:xfrm>
            <a:off x="3726050" y="4766150"/>
            <a:ext cx="1026900" cy="1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2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62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807" name="Google Shape;807;p62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Hvor kan bias oppstå?</a:t>
            </a:r>
            <a:endParaRPr sz="1100"/>
          </a:p>
        </p:txBody>
      </p:sp>
      <p:grpSp>
        <p:nvGrpSpPr>
          <p:cNvPr id="808" name="Google Shape;808;p62"/>
          <p:cNvGrpSpPr/>
          <p:nvPr/>
        </p:nvGrpSpPr>
        <p:grpSpPr>
          <a:xfrm>
            <a:off x="514350" y="1428750"/>
            <a:ext cx="1905000" cy="2857500"/>
            <a:chOff x="514350" y="1428750"/>
            <a:chExt cx="1905000" cy="2857500"/>
          </a:xfrm>
        </p:grpSpPr>
        <p:sp>
          <p:nvSpPr>
            <p:cNvPr id="809" name="Google Shape;809;p62"/>
            <p:cNvSpPr/>
            <p:nvPr/>
          </p:nvSpPr>
          <p:spPr>
            <a:xfrm>
              <a:off x="5143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2"/>
            <p:cNvSpPr txBox="1"/>
            <p:nvPr/>
          </p:nvSpPr>
          <p:spPr>
            <a:xfrm>
              <a:off x="5143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Datasettet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I hvem som er med i datasettet og representativitet.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1" name="Google Shape;811;p62"/>
          <p:cNvGrpSpPr/>
          <p:nvPr/>
        </p:nvGrpSpPr>
        <p:grpSpPr>
          <a:xfrm>
            <a:off x="2609850" y="1428750"/>
            <a:ext cx="1905000" cy="2857500"/>
            <a:chOff x="2609850" y="1428750"/>
            <a:chExt cx="1905000" cy="2857500"/>
          </a:xfrm>
        </p:grpSpPr>
        <p:sp>
          <p:nvSpPr>
            <p:cNvPr id="812" name="Google Shape;812;p62"/>
            <p:cNvSpPr/>
            <p:nvPr/>
          </p:nvSpPr>
          <p:spPr>
            <a:xfrm>
              <a:off x="26098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2"/>
            <p:cNvSpPr txBox="1"/>
            <p:nvPr/>
          </p:nvSpPr>
          <p:spPr>
            <a:xfrm>
              <a:off x="26098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label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Måling &amp; merking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I hvordan data måles og merkes av mennesker eller systemer.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4" name="Google Shape;814;p62"/>
          <p:cNvGrpSpPr/>
          <p:nvPr/>
        </p:nvGrpSpPr>
        <p:grpSpPr>
          <a:xfrm>
            <a:off x="4705350" y="1428750"/>
            <a:ext cx="1905000" cy="2857500"/>
            <a:chOff x="4705350" y="1428750"/>
            <a:chExt cx="1905000" cy="2857500"/>
          </a:xfrm>
        </p:grpSpPr>
        <p:sp>
          <p:nvSpPr>
            <p:cNvPr id="815" name="Google Shape;815;p62"/>
            <p:cNvSpPr/>
            <p:nvPr/>
          </p:nvSpPr>
          <p:spPr>
            <a:xfrm>
              <a:off x="47053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2"/>
            <p:cNvSpPr txBox="1"/>
            <p:nvPr/>
          </p:nvSpPr>
          <p:spPr>
            <a:xfrm>
              <a:off x="47053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Modellutvikling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I hvordan algoritmen trenes og modellen utvikles.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7" name="Google Shape;817;p62"/>
          <p:cNvGrpSpPr/>
          <p:nvPr/>
        </p:nvGrpSpPr>
        <p:grpSpPr>
          <a:xfrm>
            <a:off x="6800850" y="1428750"/>
            <a:ext cx="1905000" cy="2857500"/>
            <a:chOff x="6800850" y="1428750"/>
            <a:chExt cx="1905000" cy="2857500"/>
          </a:xfrm>
        </p:grpSpPr>
        <p:sp>
          <p:nvSpPr>
            <p:cNvPr id="818" name="Google Shape;818;p62"/>
            <p:cNvSpPr/>
            <p:nvPr/>
          </p:nvSpPr>
          <p:spPr>
            <a:xfrm>
              <a:off x="68008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2"/>
            <p:cNvSpPr txBox="1"/>
            <p:nvPr/>
          </p:nvSpPr>
          <p:spPr>
            <a:xfrm>
              <a:off x="68008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Bruk &amp; tolkning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I hvordan resultatene brukes og tolkes i klinisk praksis.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3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63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826" name="Google Shape;826;p63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Forklarbarhet: nyttig, men ikke magisk</a:t>
            </a:r>
            <a:endParaRPr sz="1100"/>
          </a:p>
        </p:txBody>
      </p:sp>
      <p:grpSp>
        <p:nvGrpSpPr>
          <p:cNvPr id="827" name="Google Shape;827;p63"/>
          <p:cNvGrpSpPr/>
          <p:nvPr/>
        </p:nvGrpSpPr>
        <p:grpSpPr>
          <a:xfrm>
            <a:off x="571500" y="1428750"/>
            <a:ext cx="2476500" cy="2857500"/>
            <a:chOff x="571500" y="1428750"/>
            <a:chExt cx="2476500" cy="2857500"/>
          </a:xfrm>
        </p:grpSpPr>
        <p:sp>
          <p:nvSpPr>
            <p:cNvPr id="828" name="Google Shape;828;p63"/>
            <p:cNvSpPr/>
            <p:nvPr/>
          </p:nvSpPr>
          <p:spPr>
            <a:xfrm>
              <a:off x="5715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3"/>
            <p:cNvSpPr txBox="1"/>
            <p:nvPr/>
          </p:nvSpPr>
          <p:spPr>
            <a:xfrm>
              <a:off x="5715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Synlighet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Forklaringer kan hjelpe oss å se hva modellen reagerer på.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0" name="Google Shape;830;p63"/>
          <p:cNvGrpSpPr/>
          <p:nvPr/>
        </p:nvGrpSpPr>
        <p:grpSpPr>
          <a:xfrm>
            <a:off x="3333750" y="1428750"/>
            <a:ext cx="2476500" cy="2857500"/>
            <a:chOff x="3333750" y="1428750"/>
            <a:chExt cx="2476500" cy="2857500"/>
          </a:xfrm>
        </p:grpSpPr>
        <p:sp>
          <p:nvSpPr>
            <p:cNvPr id="831" name="Google Shape;831;p63"/>
            <p:cNvSpPr/>
            <p:nvPr/>
          </p:nvSpPr>
          <p:spPr>
            <a:xfrm>
              <a:off x="333375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3"/>
            <p:cNvSpPr txBox="1"/>
            <p:nvPr/>
          </p:nvSpPr>
          <p:spPr>
            <a:xfrm>
              <a:off x="333375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Klinisk sannhet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Men forklaringer beviser ikke at modellen er klinisk riktig.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3" name="Google Shape;833;p63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uke03-dyplæring/02c_cnn_testing.ipynb</a:t>
            </a:r>
            <a:endParaRPr sz="1100"/>
          </a:p>
        </p:txBody>
      </p:sp>
      <p:grpSp>
        <p:nvGrpSpPr>
          <p:cNvPr id="834" name="Google Shape;834;p63"/>
          <p:cNvGrpSpPr/>
          <p:nvPr/>
        </p:nvGrpSpPr>
        <p:grpSpPr>
          <a:xfrm>
            <a:off x="6096000" y="1428750"/>
            <a:ext cx="2476500" cy="2857500"/>
            <a:chOff x="6096000" y="1428750"/>
            <a:chExt cx="2476500" cy="2857500"/>
          </a:xfrm>
        </p:grpSpPr>
        <p:sp>
          <p:nvSpPr>
            <p:cNvPr id="835" name="Google Shape;835;p63"/>
            <p:cNvSpPr/>
            <p:nvPr/>
          </p:nvSpPr>
          <p:spPr>
            <a:xfrm>
              <a:off x="60960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3"/>
            <p:cNvSpPr txBox="1"/>
            <p:nvPr/>
          </p:nvSpPr>
          <p:spPr>
            <a:xfrm>
              <a:off x="60960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psychology_alt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Kritisk bruk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Forklarbarhet må brukes kritisk, ikke ritualistisk.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37" name="Google Shape;837;p6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1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64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64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844" name="Google Shape;844;p64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Human-in-the-loop</a:t>
            </a:r>
            <a:endParaRPr sz="1100"/>
          </a:p>
        </p:txBody>
      </p:sp>
      <p:grpSp>
        <p:nvGrpSpPr>
          <p:cNvPr id="845" name="Google Shape;845;p64"/>
          <p:cNvGrpSpPr/>
          <p:nvPr/>
        </p:nvGrpSpPr>
        <p:grpSpPr>
          <a:xfrm>
            <a:off x="571500" y="1428750"/>
            <a:ext cx="2476500" cy="2857500"/>
            <a:chOff x="571500" y="1428750"/>
            <a:chExt cx="2476500" cy="2857500"/>
          </a:xfrm>
        </p:grpSpPr>
        <p:sp>
          <p:nvSpPr>
            <p:cNvPr id="846" name="Google Shape;846;p64"/>
            <p:cNvSpPr/>
            <p:nvPr/>
          </p:nvSpPr>
          <p:spPr>
            <a:xfrm>
              <a:off x="5715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4"/>
            <p:cNvSpPr txBox="1"/>
            <p:nvPr/>
          </p:nvSpPr>
          <p:spPr>
            <a:xfrm>
              <a:off x="5715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support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Støtte, ikke erstatte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AI bør vanligvis støtte klinikeren i arbeidet, ikke erstatte den faglige kompetansen.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8" name="Google Shape;848;p64"/>
          <p:cNvGrpSpPr/>
          <p:nvPr/>
        </p:nvGrpSpPr>
        <p:grpSpPr>
          <a:xfrm>
            <a:off x="3333750" y="1428750"/>
            <a:ext cx="2476500" cy="2857500"/>
            <a:chOff x="3333750" y="1428750"/>
            <a:chExt cx="2476500" cy="2857500"/>
          </a:xfrm>
        </p:grpSpPr>
        <p:sp>
          <p:nvSpPr>
            <p:cNvPr id="849" name="Google Shape;849;p64"/>
            <p:cNvSpPr/>
            <p:nvPr/>
          </p:nvSpPr>
          <p:spPr>
            <a:xfrm>
              <a:off x="333375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4"/>
            <p:cNvSpPr txBox="1"/>
            <p:nvPr/>
          </p:nvSpPr>
          <p:spPr>
            <a:xfrm>
              <a:off x="333375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4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clinical_notes</a:t>
              </a:r>
              <a:endParaRPr sz="144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74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4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Klinisk vurdering</a:t>
              </a:r>
              <a:endParaRPr b="1" sz="164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4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Klinikerens faglige vurdering forsvinner ikke selv om beslutningsstøtte tas i bruk.</a:t>
              </a:r>
              <a:endParaRPr b="0" sz="114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1" name="Google Shape;851;p64"/>
          <p:cNvGrpSpPr/>
          <p:nvPr/>
        </p:nvGrpSpPr>
        <p:grpSpPr>
          <a:xfrm>
            <a:off x="6096000" y="1428750"/>
            <a:ext cx="2476500" cy="2857500"/>
            <a:chOff x="6096000" y="1428750"/>
            <a:chExt cx="2476500" cy="2857500"/>
          </a:xfrm>
        </p:grpSpPr>
        <p:sp>
          <p:nvSpPr>
            <p:cNvPr id="852" name="Google Shape;852;p64"/>
            <p:cNvSpPr/>
            <p:nvPr/>
          </p:nvSpPr>
          <p:spPr>
            <a:xfrm>
              <a:off x="60960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4"/>
            <p:cNvSpPr txBox="1"/>
            <p:nvPr/>
          </p:nvSpPr>
          <p:spPr>
            <a:xfrm>
              <a:off x="60960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handshake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Samspill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Det avgjørende er hvordan menneske og system samspiller for å oppnå best resultat.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5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5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860" name="Google Shape;860;p65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Arbeidsflyt er en del av kvaliteten</a:t>
            </a:r>
            <a:endParaRPr sz="1100"/>
          </a:p>
        </p:txBody>
      </p:sp>
      <p:grpSp>
        <p:nvGrpSpPr>
          <p:cNvPr id="861" name="Google Shape;861;p65"/>
          <p:cNvGrpSpPr/>
          <p:nvPr/>
        </p:nvGrpSpPr>
        <p:grpSpPr>
          <a:xfrm>
            <a:off x="571500" y="1428750"/>
            <a:ext cx="2476500" cy="2857500"/>
            <a:chOff x="571500" y="1428750"/>
            <a:chExt cx="2476500" cy="2857500"/>
          </a:xfrm>
        </p:grpSpPr>
        <p:sp>
          <p:nvSpPr>
            <p:cNvPr id="862" name="Google Shape;862;p65"/>
            <p:cNvSpPr/>
            <p:nvPr/>
          </p:nvSpPr>
          <p:spPr>
            <a:xfrm>
              <a:off x="5715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5"/>
            <p:cNvSpPr txBox="1"/>
            <p:nvPr/>
          </p:nvSpPr>
          <p:spPr>
            <a:xfrm>
              <a:off x="571500" y="1428750"/>
              <a:ext cx="24765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precision_manufacturing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Praktisk verdi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En god modell som ikke passer i praksis har liten verdi.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" name="Google Shape;864;p65"/>
          <p:cNvGrpSpPr/>
          <p:nvPr/>
        </p:nvGrpSpPr>
        <p:grpSpPr>
          <a:xfrm>
            <a:off x="3333750" y="1428750"/>
            <a:ext cx="2476500" cy="2857500"/>
            <a:chOff x="3333750" y="1428750"/>
            <a:chExt cx="2476500" cy="2857500"/>
          </a:xfrm>
        </p:grpSpPr>
        <p:sp>
          <p:nvSpPr>
            <p:cNvPr id="865" name="Google Shape;865;p65"/>
            <p:cNvSpPr/>
            <p:nvPr/>
          </p:nvSpPr>
          <p:spPr>
            <a:xfrm>
              <a:off x="333375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5"/>
            <p:cNvSpPr txBox="1"/>
            <p:nvPr/>
          </p:nvSpPr>
          <p:spPr>
            <a:xfrm>
              <a:off x="3333750" y="1428750"/>
              <a:ext cx="24765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warning_amber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Unngå friksjon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Dårlig integrasjon kan skape friksjon og nye feil i hverdagen.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7" name="Google Shape;867;p65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uke06-klinisk-praksis/04_fra_modell_til_klinisk_arbeidsflyt.ipynb</a:t>
            </a:r>
            <a:endParaRPr sz="1100"/>
          </a:p>
        </p:txBody>
      </p:sp>
      <p:grpSp>
        <p:nvGrpSpPr>
          <p:cNvPr id="868" name="Google Shape;868;p65"/>
          <p:cNvGrpSpPr/>
          <p:nvPr/>
        </p:nvGrpSpPr>
        <p:grpSpPr>
          <a:xfrm>
            <a:off x="6096000" y="1428750"/>
            <a:ext cx="2476500" cy="2857500"/>
            <a:chOff x="6096000" y="1428750"/>
            <a:chExt cx="2476500" cy="2857500"/>
          </a:xfrm>
        </p:grpSpPr>
        <p:sp>
          <p:nvSpPr>
            <p:cNvPr id="869" name="Google Shape;869;p65"/>
            <p:cNvSpPr/>
            <p:nvPr/>
          </p:nvSpPr>
          <p:spPr>
            <a:xfrm>
              <a:off x="60960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5"/>
            <p:cNvSpPr txBox="1"/>
            <p:nvPr/>
          </p:nvSpPr>
          <p:spPr>
            <a:xfrm>
              <a:off x="6096000" y="1428750"/>
              <a:ext cx="24765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Implementering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Dette er i høyeste grad et klinisk og organisatorisk spørsmål.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71" name="Google Shape;871;p6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731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6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66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878" name="Google Shape;878;p66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Hva skjer hvis modellen er feil?</a:t>
            </a:r>
            <a:endParaRPr sz="1100"/>
          </a:p>
        </p:txBody>
      </p:sp>
      <p:grpSp>
        <p:nvGrpSpPr>
          <p:cNvPr id="879" name="Google Shape;879;p66"/>
          <p:cNvGrpSpPr/>
          <p:nvPr/>
        </p:nvGrpSpPr>
        <p:grpSpPr>
          <a:xfrm>
            <a:off x="514350" y="1428750"/>
            <a:ext cx="1905000" cy="2667000"/>
            <a:chOff x="514350" y="1428750"/>
            <a:chExt cx="1905000" cy="2667000"/>
          </a:xfrm>
        </p:grpSpPr>
        <p:sp>
          <p:nvSpPr>
            <p:cNvPr id="880" name="Google Shape;880;p66"/>
            <p:cNvSpPr/>
            <p:nvPr/>
          </p:nvSpPr>
          <p:spPr>
            <a:xfrm>
              <a:off x="514350" y="1428750"/>
              <a:ext cx="1905000" cy="2667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6"/>
            <p:cNvSpPr txBox="1"/>
            <p:nvPr/>
          </p:nvSpPr>
          <p:spPr>
            <a:xfrm>
              <a:off x="514350" y="14287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Hvem merker det?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Identifisering av avvik og feilaktige resultater i sanntid.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2" name="Google Shape;882;p66"/>
          <p:cNvGrpSpPr/>
          <p:nvPr/>
        </p:nvGrpSpPr>
        <p:grpSpPr>
          <a:xfrm>
            <a:off x="2609850" y="1428750"/>
            <a:ext cx="1905000" cy="2667000"/>
            <a:chOff x="2609850" y="1428750"/>
            <a:chExt cx="1905000" cy="2667000"/>
          </a:xfrm>
        </p:grpSpPr>
        <p:sp>
          <p:nvSpPr>
            <p:cNvPr id="883" name="Google Shape;883;p66"/>
            <p:cNvSpPr/>
            <p:nvPr/>
          </p:nvSpPr>
          <p:spPr>
            <a:xfrm>
              <a:off x="2609850" y="1428750"/>
              <a:ext cx="1905000" cy="2667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6"/>
            <p:cNvSpPr txBox="1"/>
            <p:nvPr/>
          </p:nvSpPr>
          <p:spPr>
            <a:xfrm>
              <a:off x="2609850" y="14287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front_hand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Hvem stopper det?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Ansvar for å intervenere når systemet produserer feil.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5" name="Google Shape;885;p66"/>
          <p:cNvGrpSpPr/>
          <p:nvPr/>
        </p:nvGrpSpPr>
        <p:grpSpPr>
          <a:xfrm>
            <a:off x="4705350" y="1428750"/>
            <a:ext cx="1905000" cy="2667000"/>
            <a:chOff x="4705350" y="1428750"/>
            <a:chExt cx="1905000" cy="2667000"/>
          </a:xfrm>
        </p:grpSpPr>
        <p:sp>
          <p:nvSpPr>
            <p:cNvPr id="886" name="Google Shape;886;p66"/>
            <p:cNvSpPr/>
            <p:nvPr/>
          </p:nvSpPr>
          <p:spPr>
            <a:xfrm>
              <a:off x="4705350" y="1428750"/>
              <a:ext cx="1905000" cy="2667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6"/>
            <p:cNvSpPr txBox="1"/>
            <p:nvPr/>
          </p:nvSpPr>
          <p:spPr>
            <a:xfrm>
              <a:off x="4705350" y="14287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Responstid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Hvor raskt oppdages problemet før det får konsekvenser?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" name="Google Shape;888;p66"/>
          <p:cNvGrpSpPr/>
          <p:nvPr/>
        </p:nvGrpSpPr>
        <p:grpSpPr>
          <a:xfrm>
            <a:off x="6800850" y="1428750"/>
            <a:ext cx="1905000" cy="2667000"/>
            <a:chOff x="6800850" y="1428750"/>
            <a:chExt cx="1905000" cy="2667000"/>
          </a:xfrm>
        </p:grpSpPr>
        <p:sp>
          <p:nvSpPr>
            <p:cNvPr id="889" name="Google Shape;889;p66"/>
            <p:cNvSpPr/>
            <p:nvPr/>
          </p:nvSpPr>
          <p:spPr>
            <a:xfrm>
              <a:off x="6800850" y="1428750"/>
              <a:ext cx="1905000" cy="2667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6"/>
            <p:cNvSpPr txBox="1"/>
            <p:nvPr/>
          </p:nvSpPr>
          <p:spPr>
            <a:xfrm>
              <a:off x="6800850" y="14287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Myndighet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Hvem kan korrigere eller slå av systemet permanent?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7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7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897" name="Google Shape;897;p67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Personvern og helseopplysninger</a:t>
            </a:r>
            <a:endParaRPr sz="1100"/>
          </a:p>
        </p:txBody>
      </p:sp>
      <p:grpSp>
        <p:nvGrpSpPr>
          <p:cNvPr id="898" name="Google Shape;898;p67"/>
          <p:cNvGrpSpPr/>
          <p:nvPr/>
        </p:nvGrpSpPr>
        <p:grpSpPr>
          <a:xfrm>
            <a:off x="571500" y="1428750"/>
            <a:ext cx="2476500" cy="2857500"/>
            <a:chOff x="571500" y="1428750"/>
            <a:chExt cx="2476500" cy="2857500"/>
          </a:xfrm>
        </p:grpSpPr>
        <p:sp>
          <p:nvSpPr>
            <p:cNvPr id="899" name="Google Shape;899;p67"/>
            <p:cNvSpPr/>
            <p:nvPr/>
          </p:nvSpPr>
          <p:spPr>
            <a:xfrm>
              <a:off x="5715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7"/>
            <p:cNvSpPr txBox="1"/>
            <p:nvPr/>
          </p:nvSpPr>
          <p:spPr>
            <a:xfrm>
              <a:off x="5715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health_and_safety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Særlig aktsomhet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Helseopplysninger er sensitive data som krever strengere beskyttelse og varsomhet ved håndtering.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1" name="Google Shape;901;p67"/>
          <p:cNvGrpSpPr/>
          <p:nvPr/>
        </p:nvGrpSpPr>
        <p:grpSpPr>
          <a:xfrm>
            <a:off x="3333750" y="1428750"/>
            <a:ext cx="2476500" cy="2857500"/>
            <a:chOff x="3333750" y="1428750"/>
            <a:chExt cx="2476500" cy="2857500"/>
          </a:xfrm>
        </p:grpSpPr>
        <p:sp>
          <p:nvSpPr>
            <p:cNvPr id="902" name="Google Shape;902;p67"/>
            <p:cNvSpPr/>
            <p:nvPr/>
          </p:nvSpPr>
          <p:spPr>
            <a:xfrm>
              <a:off x="333375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7"/>
            <p:cNvSpPr txBox="1"/>
            <p:nvPr/>
          </p:nvSpPr>
          <p:spPr>
            <a:xfrm>
              <a:off x="333375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admin_panel_settings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Krav til kontroll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Dataminimering, tilgangskontroll og informasjonsplikt er fundamentale prinsipper som må ivaretas.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4" name="Google Shape;904;p67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uke08-etikk-implementering/01_gdpr_personvern.ipynb</a:t>
            </a:r>
            <a:endParaRPr sz="1100"/>
          </a:p>
        </p:txBody>
      </p:sp>
      <p:grpSp>
        <p:nvGrpSpPr>
          <p:cNvPr id="905" name="Google Shape;905;p67"/>
          <p:cNvGrpSpPr/>
          <p:nvPr/>
        </p:nvGrpSpPr>
        <p:grpSpPr>
          <a:xfrm>
            <a:off x="6096000" y="1428750"/>
            <a:ext cx="2476500" cy="2857500"/>
            <a:chOff x="6096000" y="1428750"/>
            <a:chExt cx="2476500" cy="2857500"/>
          </a:xfrm>
        </p:grpSpPr>
        <p:sp>
          <p:nvSpPr>
            <p:cNvPr id="906" name="Google Shape;906;p67"/>
            <p:cNvSpPr/>
            <p:nvPr/>
          </p:nvSpPr>
          <p:spPr>
            <a:xfrm>
              <a:off x="60960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7"/>
            <p:cNvSpPr txBox="1"/>
            <p:nvPr/>
          </p:nvSpPr>
          <p:spPr>
            <a:xfrm>
              <a:off x="60960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handshake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Tillit og innføring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Oppbygging av tillit er en integrert del av selve implementeringsprosessen for nye systemer.</a:t>
              </a:r>
              <a:endParaRPr b="0"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8" name="Google Shape;908;p6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571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68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68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915" name="Google Shape;915;p68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Etikk i praksis</a:t>
            </a:r>
            <a:endParaRPr sz="1100"/>
          </a:p>
        </p:txBody>
      </p:sp>
      <p:grpSp>
        <p:nvGrpSpPr>
          <p:cNvPr id="916" name="Google Shape;916;p68"/>
          <p:cNvGrpSpPr/>
          <p:nvPr/>
        </p:nvGrpSpPr>
        <p:grpSpPr>
          <a:xfrm>
            <a:off x="514350" y="1428750"/>
            <a:ext cx="1905000" cy="2857500"/>
            <a:chOff x="514350" y="1428750"/>
            <a:chExt cx="1905000" cy="2857500"/>
          </a:xfrm>
        </p:grpSpPr>
        <p:sp>
          <p:nvSpPr>
            <p:cNvPr id="917" name="Google Shape;917;p68"/>
            <p:cNvSpPr/>
            <p:nvPr/>
          </p:nvSpPr>
          <p:spPr>
            <a:xfrm>
              <a:off x="5143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8"/>
            <p:cNvSpPr txBox="1"/>
            <p:nvPr/>
          </p:nvSpPr>
          <p:spPr>
            <a:xfrm>
              <a:off x="5143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Autonomi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Pasientens rett til selvbestemmelse og medvirkning i egne helsevalg.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9" name="Google Shape;919;p68"/>
          <p:cNvGrpSpPr/>
          <p:nvPr/>
        </p:nvGrpSpPr>
        <p:grpSpPr>
          <a:xfrm>
            <a:off x="2609850" y="1428750"/>
            <a:ext cx="1905000" cy="2857500"/>
            <a:chOff x="2609850" y="1428750"/>
            <a:chExt cx="1905000" cy="2857500"/>
          </a:xfrm>
        </p:grpSpPr>
        <p:sp>
          <p:nvSpPr>
            <p:cNvPr id="920" name="Google Shape;920;p68"/>
            <p:cNvSpPr/>
            <p:nvPr/>
          </p:nvSpPr>
          <p:spPr>
            <a:xfrm>
              <a:off x="26098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8"/>
            <p:cNvSpPr txBox="1"/>
            <p:nvPr/>
          </p:nvSpPr>
          <p:spPr>
            <a:xfrm>
              <a:off x="26098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volunteer_activism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Velgjørenhet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Plikten til å handle til pasientens beste og fremme gode helseresultater.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2" name="Google Shape;922;p68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uke08-etikk-implementering/04_ai_etikk_i_medisinen.ipynb</a:t>
            </a:r>
            <a:endParaRPr sz="1100"/>
          </a:p>
        </p:txBody>
      </p:sp>
      <p:grpSp>
        <p:nvGrpSpPr>
          <p:cNvPr id="923" name="Google Shape;923;p68"/>
          <p:cNvGrpSpPr/>
          <p:nvPr/>
        </p:nvGrpSpPr>
        <p:grpSpPr>
          <a:xfrm>
            <a:off x="4705350" y="1428750"/>
            <a:ext cx="1905000" cy="2857500"/>
            <a:chOff x="4705350" y="1428750"/>
            <a:chExt cx="1905000" cy="2857500"/>
          </a:xfrm>
        </p:grpSpPr>
        <p:sp>
          <p:nvSpPr>
            <p:cNvPr id="924" name="Google Shape;924;p68"/>
            <p:cNvSpPr/>
            <p:nvPr/>
          </p:nvSpPr>
          <p:spPr>
            <a:xfrm>
              <a:off x="47053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8"/>
            <p:cNvSpPr txBox="1"/>
            <p:nvPr/>
          </p:nvSpPr>
          <p:spPr>
            <a:xfrm>
              <a:off x="47053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healing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Ikke-skade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Det grunnleggende prinsippet om å først og fremst unngå å påføre skade.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" name="Google Shape;926;p68"/>
          <p:cNvGrpSpPr/>
          <p:nvPr/>
        </p:nvGrpSpPr>
        <p:grpSpPr>
          <a:xfrm>
            <a:off x="6800850" y="1428750"/>
            <a:ext cx="1905000" cy="2857500"/>
            <a:chOff x="6800850" y="1428750"/>
            <a:chExt cx="1905000" cy="2857500"/>
          </a:xfrm>
        </p:grpSpPr>
        <p:sp>
          <p:nvSpPr>
            <p:cNvPr id="927" name="Google Shape;927;p68"/>
            <p:cNvSpPr/>
            <p:nvPr/>
          </p:nvSpPr>
          <p:spPr>
            <a:xfrm>
              <a:off x="68008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8"/>
            <p:cNvSpPr txBox="1"/>
            <p:nvPr/>
          </p:nvSpPr>
          <p:spPr>
            <a:xfrm>
              <a:off x="68008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balance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Rettferdighet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Rettferdig fordeling av ressurser og lik tilgang til helsehjelp for alle.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29" name="Google Shape;929;p6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441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69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9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936" name="Google Shape;936;p69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Regulering i grove trekk</a:t>
            </a:r>
            <a:endParaRPr sz="1100"/>
          </a:p>
        </p:txBody>
      </p:sp>
      <p:grpSp>
        <p:nvGrpSpPr>
          <p:cNvPr id="937" name="Google Shape;937;p69"/>
          <p:cNvGrpSpPr/>
          <p:nvPr/>
        </p:nvGrpSpPr>
        <p:grpSpPr>
          <a:xfrm>
            <a:off x="571500" y="1428750"/>
            <a:ext cx="2476500" cy="2857500"/>
            <a:chOff x="571500" y="1428750"/>
            <a:chExt cx="2476500" cy="2857500"/>
          </a:xfrm>
        </p:grpSpPr>
        <p:sp>
          <p:nvSpPr>
            <p:cNvPr id="938" name="Google Shape;938;p69"/>
            <p:cNvSpPr/>
            <p:nvPr/>
          </p:nvSpPr>
          <p:spPr>
            <a:xfrm>
              <a:off x="5715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9"/>
            <p:cNvSpPr txBox="1"/>
            <p:nvPr/>
          </p:nvSpPr>
          <p:spPr>
            <a:xfrm>
              <a:off x="5715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Medisinsk utstyr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Noe AI i helse kan klassifiseres som medisinsk utstyr, noe som utløser strengere regulatoriske krav.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0" name="Google Shape;940;p69"/>
          <p:cNvGrpSpPr/>
          <p:nvPr/>
        </p:nvGrpSpPr>
        <p:grpSpPr>
          <a:xfrm>
            <a:off x="3333750" y="1428750"/>
            <a:ext cx="2476500" cy="2857500"/>
            <a:chOff x="3333750" y="1428750"/>
            <a:chExt cx="2476500" cy="2857500"/>
          </a:xfrm>
        </p:grpSpPr>
        <p:sp>
          <p:nvSpPr>
            <p:cNvPr id="941" name="Google Shape;941;p69"/>
            <p:cNvSpPr/>
            <p:nvPr/>
          </p:nvSpPr>
          <p:spPr>
            <a:xfrm>
              <a:off x="333375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9"/>
            <p:cNvSpPr txBox="1"/>
            <p:nvPr/>
          </p:nvSpPr>
          <p:spPr>
            <a:xfrm>
              <a:off x="333375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Krav til prosess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Når AI er medisinsk utstyr, følger det krav til omfattende dokumentasjon, grundig vurdering og tydelig ansvar.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3" name="Google Shape;943;p69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uke08-etikk-implementering/03_ce_mdr_regulering.ipynb</a:t>
            </a:r>
            <a:endParaRPr sz="1100"/>
          </a:p>
        </p:txBody>
      </p:sp>
      <p:grpSp>
        <p:nvGrpSpPr>
          <p:cNvPr id="944" name="Google Shape;944;p69"/>
          <p:cNvGrpSpPr/>
          <p:nvPr/>
        </p:nvGrpSpPr>
        <p:grpSpPr>
          <a:xfrm>
            <a:off x="6096000" y="1428750"/>
            <a:ext cx="2476500" cy="2857500"/>
            <a:chOff x="6096000" y="1428750"/>
            <a:chExt cx="2476500" cy="2857500"/>
          </a:xfrm>
        </p:grpSpPr>
        <p:sp>
          <p:nvSpPr>
            <p:cNvPr id="945" name="Google Shape;945;p69"/>
            <p:cNvSpPr/>
            <p:nvPr/>
          </p:nvSpPr>
          <p:spPr>
            <a:xfrm>
              <a:off x="6096000" y="1428750"/>
              <a:ext cx="2476500" cy="2857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69"/>
            <p:cNvSpPr txBox="1"/>
            <p:nvPr/>
          </p:nvSpPr>
          <p:spPr>
            <a:xfrm>
              <a:off x="6096000" y="1428750"/>
              <a:ext cx="2476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Sikkerhet først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Regulering er ikke bare byråkratiske hindre, men et fundamentalt verktøy for å ivareta pasientsikkerheten.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47" name="Google Shape;947;p6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5037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0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70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954" name="Google Shape;954;p70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Hva betyr trustworthy AI i helse?</a:t>
            </a:r>
            <a:endParaRPr sz="1100"/>
          </a:p>
        </p:txBody>
      </p:sp>
      <p:grpSp>
        <p:nvGrpSpPr>
          <p:cNvPr id="955" name="Google Shape;955;p70"/>
          <p:cNvGrpSpPr/>
          <p:nvPr/>
        </p:nvGrpSpPr>
        <p:grpSpPr>
          <a:xfrm>
            <a:off x="514350" y="1428750"/>
            <a:ext cx="1905000" cy="2857500"/>
            <a:chOff x="514350" y="1428750"/>
            <a:chExt cx="1905000" cy="2857500"/>
          </a:xfrm>
        </p:grpSpPr>
        <p:sp>
          <p:nvSpPr>
            <p:cNvPr id="956" name="Google Shape;956;p70"/>
            <p:cNvSpPr/>
            <p:nvPr/>
          </p:nvSpPr>
          <p:spPr>
            <a:xfrm>
              <a:off x="5143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70"/>
            <p:cNvSpPr txBox="1"/>
            <p:nvPr/>
          </p:nvSpPr>
          <p:spPr>
            <a:xfrm>
              <a:off x="5143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Robusthet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Systemets evne til å fungere sikkert og nøyaktig under ulike forhold og feilsituasjoner.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8" name="Google Shape;958;p70"/>
          <p:cNvGrpSpPr/>
          <p:nvPr/>
        </p:nvGrpSpPr>
        <p:grpSpPr>
          <a:xfrm>
            <a:off x="2609850" y="1428750"/>
            <a:ext cx="1905000" cy="2857500"/>
            <a:chOff x="2609850" y="1428750"/>
            <a:chExt cx="1905000" cy="2857500"/>
          </a:xfrm>
        </p:grpSpPr>
        <p:sp>
          <p:nvSpPr>
            <p:cNvPr id="959" name="Google Shape;959;p70"/>
            <p:cNvSpPr/>
            <p:nvPr/>
          </p:nvSpPr>
          <p:spPr>
            <a:xfrm>
              <a:off x="26098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70"/>
            <p:cNvSpPr txBox="1"/>
            <p:nvPr/>
          </p:nvSpPr>
          <p:spPr>
            <a:xfrm>
              <a:off x="26098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Transparens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Åpenhet om data, algoritmer og beslutningsgrunnlag for å muliggjøre etterprøvbarhet.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1" name="Google Shape;961;p70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uke08-etikk-implementering/05_trustworthy_ai_i_helse.ipynb</a:t>
            </a:r>
            <a:endParaRPr sz="1100"/>
          </a:p>
        </p:txBody>
      </p:sp>
      <p:grpSp>
        <p:nvGrpSpPr>
          <p:cNvPr id="962" name="Google Shape;962;p70"/>
          <p:cNvGrpSpPr/>
          <p:nvPr/>
        </p:nvGrpSpPr>
        <p:grpSpPr>
          <a:xfrm>
            <a:off x="4705350" y="1428750"/>
            <a:ext cx="1905000" cy="2857500"/>
            <a:chOff x="4705350" y="1428750"/>
            <a:chExt cx="1905000" cy="2857500"/>
          </a:xfrm>
        </p:grpSpPr>
        <p:sp>
          <p:nvSpPr>
            <p:cNvPr id="963" name="Google Shape;963;p70"/>
            <p:cNvSpPr/>
            <p:nvPr/>
          </p:nvSpPr>
          <p:spPr>
            <a:xfrm>
              <a:off x="47053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70"/>
            <p:cNvSpPr txBox="1"/>
            <p:nvPr/>
          </p:nvSpPr>
          <p:spPr>
            <a:xfrm>
              <a:off x="47053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Menneskelig kontroll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Sikre at mennesker forblir beslutningstakere og kan overstyre AI-systemets forslag.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5" name="Google Shape;965;p70"/>
          <p:cNvGrpSpPr/>
          <p:nvPr/>
        </p:nvGrpSpPr>
        <p:grpSpPr>
          <a:xfrm>
            <a:off x="6800850" y="1428750"/>
            <a:ext cx="1905000" cy="2857500"/>
            <a:chOff x="6800850" y="1428750"/>
            <a:chExt cx="1905000" cy="2857500"/>
          </a:xfrm>
        </p:grpSpPr>
        <p:sp>
          <p:nvSpPr>
            <p:cNvPr id="966" name="Google Shape;966;p70"/>
            <p:cNvSpPr/>
            <p:nvPr/>
          </p:nvSpPr>
          <p:spPr>
            <a:xfrm>
              <a:off x="6800850" y="1428750"/>
              <a:ext cx="1905000" cy="28575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70"/>
            <p:cNvSpPr txBox="1"/>
            <p:nvPr/>
          </p:nvSpPr>
          <p:spPr>
            <a:xfrm>
              <a:off x="6800850" y="1428750"/>
              <a:ext cx="1905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32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Validering over tid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Kontinuerlig overvåking av systemets ytelse etter at det er tatt i bruk i klinikken.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68" name="Google Shape;968;p7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876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71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71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975" name="Google Shape;975;p71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Generativ AI i klinikken: egne utfordringer</a:t>
            </a:r>
            <a:endParaRPr sz="1100"/>
          </a:p>
        </p:txBody>
      </p:sp>
      <p:grpSp>
        <p:nvGrpSpPr>
          <p:cNvPr id="976" name="Google Shape;976;p71"/>
          <p:cNvGrpSpPr/>
          <p:nvPr/>
        </p:nvGrpSpPr>
        <p:grpSpPr>
          <a:xfrm>
            <a:off x="514350" y="1333500"/>
            <a:ext cx="3905400" cy="1428900"/>
            <a:chOff x="514350" y="1333500"/>
            <a:chExt cx="3905400" cy="1428900"/>
          </a:xfrm>
        </p:grpSpPr>
        <p:sp>
          <p:nvSpPr>
            <p:cNvPr id="977" name="Google Shape;977;p71"/>
            <p:cNvSpPr/>
            <p:nvPr/>
          </p:nvSpPr>
          <p:spPr>
            <a:xfrm>
              <a:off x="514350" y="133350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71"/>
            <p:cNvSpPr txBox="1"/>
            <p:nvPr/>
          </p:nvSpPr>
          <p:spPr>
            <a:xfrm>
              <a:off x="514350" y="1333500"/>
              <a:ext cx="3905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9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psychology_alt</a:t>
              </a:r>
              <a:endParaRPr sz="259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Hallusinasjoner</a:t>
              </a:r>
              <a:endParaRPr b="1" sz="1295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Generering av overbevisende men feilaktig språk og fakta.</a:t>
              </a:r>
              <a:endParaRPr sz="1018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71"/>
          <p:cNvGrpSpPr/>
          <p:nvPr/>
        </p:nvGrpSpPr>
        <p:grpSpPr>
          <a:xfrm>
            <a:off x="4705350" y="1333500"/>
            <a:ext cx="3905400" cy="1428900"/>
            <a:chOff x="4705350" y="1333500"/>
            <a:chExt cx="3905400" cy="1428900"/>
          </a:xfrm>
        </p:grpSpPr>
        <p:sp>
          <p:nvSpPr>
            <p:cNvPr id="980" name="Google Shape;980;p71"/>
            <p:cNvSpPr/>
            <p:nvPr/>
          </p:nvSpPr>
          <p:spPr>
            <a:xfrm>
              <a:off x="4705350" y="133350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71"/>
            <p:cNvSpPr txBox="1"/>
            <p:nvPr/>
          </p:nvSpPr>
          <p:spPr>
            <a:xfrm>
              <a:off x="4705350" y="1333500"/>
              <a:ext cx="3905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9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history_edu</a:t>
              </a:r>
              <a:endParaRPr sz="259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Sporbarhet</a:t>
              </a:r>
              <a:endParaRPr b="1" sz="1295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Uklare kilder og usikkerhet rundt hvor informasjonen stammer fra.</a:t>
              </a:r>
              <a:endParaRPr sz="1018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2" name="Google Shape;982;p71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uke04-generativ-ai/02_llm_grunnleggende.ipynb                                                                    | uke04-generativ-ai/04_chatgpt_claude_api.ipynb</a:t>
            </a:r>
            <a:endParaRPr sz="1100"/>
          </a:p>
        </p:txBody>
      </p:sp>
      <p:grpSp>
        <p:nvGrpSpPr>
          <p:cNvPr id="983" name="Google Shape;983;p71"/>
          <p:cNvGrpSpPr/>
          <p:nvPr/>
        </p:nvGrpSpPr>
        <p:grpSpPr>
          <a:xfrm>
            <a:off x="514350" y="2952750"/>
            <a:ext cx="3905400" cy="1428900"/>
            <a:chOff x="514350" y="2952750"/>
            <a:chExt cx="3905400" cy="1428900"/>
          </a:xfrm>
        </p:grpSpPr>
        <p:sp>
          <p:nvSpPr>
            <p:cNvPr id="984" name="Google Shape;984;p71"/>
            <p:cNvSpPr/>
            <p:nvPr/>
          </p:nvSpPr>
          <p:spPr>
            <a:xfrm>
              <a:off x="514350" y="2952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71"/>
            <p:cNvSpPr txBox="1"/>
            <p:nvPr/>
          </p:nvSpPr>
          <p:spPr>
            <a:xfrm>
              <a:off x="514350" y="2952750"/>
              <a:ext cx="3905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9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help_center</a:t>
              </a:r>
              <a:endParaRPr sz="259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Usikkerhet</a:t>
              </a:r>
              <a:endParaRPr b="1" sz="1295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Vanskelig å identifisere når modellen gjetter fremfor å vite.</a:t>
              </a:r>
              <a:endParaRPr sz="1018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6" name="Google Shape;986;p71"/>
          <p:cNvGrpSpPr/>
          <p:nvPr/>
        </p:nvGrpSpPr>
        <p:grpSpPr>
          <a:xfrm>
            <a:off x="4705350" y="2952750"/>
            <a:ext cx="3905400" cy="1428900"/>
            <a:chOff x="4705350" y="2952750"/>
            <a:chExt cx="3905400" cy="1428900"/>
          </a:xfrm>
        </p:grpSpPr>
        <p:sp>
          <p:nvSpPr>
            <p:cNvPr id="987" name="Google Shape;987;p71"/>
            <p:cNvSpPr/>
            <p:nvPr/>
          </p:nvSpPr>
          <p:spPr>
            <a:xfrm>
              <a:off x="4705350" y="2952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71"/>
            <p:cNvSpPr txBox="1"/>
            <p:nvPr/>
          </p:nvSpPr>
          <p:spPr>
            <a:xfrm>
              <a:off x="4705350" y="2952750"/>
              <a:ext cx="3905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9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59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Kritisk sans</a:t>
              </a:r>
              <a:endParaRPr b="1" sz="1295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Stor risiko for ukritisk overtakelse av AI-genererte formuleringer.</a:t>
              </a:r>
              <a:endParaRPr sz="1018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89" name="Google Shape;989;p7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316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71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701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2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72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997" name="Google Shape;997;p72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Hva bør man ikke outsource blindt?</a:t>
            </a:r>
            <a:endParaRPr sz="1100"/>
          </a:p>
        </p:txBody>
      </p:sp>
      <p:grpSp>
        <p:nvGrpSpPr>
          <p:cNvPr id="998" name="Google Shape;998;p72"/>
          <p:cNvGrpSpPr/>
          <p:nvPr/>
        </p:nvGrpSpPr>
        <p:grpSpPr>
          <a:xfrm>
            <a:off x="514350" y="1333500"/>
            <a:ext cx="3905400" cy="1428900"/>
            <a:chOff x="514350" y="1333500"/>
            <a:chExt cx="3905400" cy="1428900"/>
          </a:xfrm>
        </p:grpSpPr>
        <p:sp>
          <p:nvSpPr>
            <p:cNvPr id="999" name="Google Shape;999;p72"/>
            <p:cNvSpPr/>
            <p:nvPr/>
          </p:nvSpPr>
          <p:spPr>
            <a:xfrm>
              <a:off x="514350" y="133350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72"/>
            <p:cNvSpPr txBox="1"/>
            <p:nvPr/>
          </p:nvSpPr>
          <p:spPr>
            <a:xfrm>
              <a:off x="514350" y="133350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sz="2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Diagnostiske konklusjoner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Selvstendige medisinske vurderinger som danner grunnlag for behandling.</a:t>
              </a:r>
              <a:endParaRPr b="0"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1" name="Google Shape;1001;p72"/>
          <p:cNvGrpSpPr/>
          <p:nvPr/>
        </p:nvGrpSpPr>
        <p:grpSpPr>
          <a:xfrm>
            <a:off x="4705350" y="1333500"/>
            <a:ext cx="3905400" cy="1428900"/>
            <a:chOff x="4705350" y="1333500"/>
            <a:chExt cx="3905400" cy="1428900"/>
          </a:xfrm>
        </p:grpSpPr>
        <p:sp>
          <p:nvSpPr>
            <p:cNvPr id="1002" name="Google Shape;1002;p72"/>
            <p:cNvSpPr/>
            <p:nvPr/>
          </p:nvSpPr>
          <p:spPr>
            <a:xfrm>
              <a:off x="4705350" y="133350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72"/>
            <p:cNvSpPr txBox="1"/>
            <p:nvPr/>
          </p:nvSpPr>
          <p:spPr>
            <a:xfrm>
              <a:off x="4705350" y="133350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2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Høyrisikobeslutninger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Beslutninger med potensielt alvorlige konsekvenser for liv og helse.</a:t>
              </a:r>
              <a:endParaRPr b="0"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4" name="Google Shape;1004;p72"/>
          <p:cNvGrpSpPr/>
          <p:nvPr/>
        </p:nvGrpSpPr>
        <p:grpSpPr>
          <a:xfrm>
            <a:off x="514350" y="2952750"/>
            <a:ext cx="3905400" cy="1428900"/>
            <a:chOff x="514350" y="2952750"/>
            <a:chExt cx="3905400" cy="1428900"/>
          </a:xfrm>
        </p:grpSpPr>
        <p:sp>
          <p:nvSpPr>
            <p:cNvPr id="1005" name="Google Shape;1005;p72"/>
            <p:cNvSpPr/>
            <p:nvPr/>
          </p:nvSpPr>
          <p:spPr>
            <a:xfrm>
              <a:off x="514350" y="2952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72"/>
            <p:cNvSpPr txBox="1"/>
            <p:nvPr/>
          </p:nvSpPr>
          <p:spPr>
            <a:xfrm>
              <a:off x="514350" y="295275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volunteer_activism</a:t>
              </a:r>
              <a:endParaRPr sz="2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Følsom pasientkommunikasjon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Samtaler som krever empati, nyanser og dyp forståelse for menneskelig kontekst.</a:t>
              </a:r>
              <a:endParaRPr b="0"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7" name="Google Shape;1007;p72"/>
          <p:cNvGrpSpPr/>
          <p:nvPr/>
        </p:nvGrpSpPr>
        <p:grpSpPr>
          <a:xfrm>
            <a:off x="4705350" y="2952750"/>
            <a:ext cx="3905400" cy="1428900"/>
            <a:chOff x="4705350" y="2952750"/>
            <a:chExt cx="3905400" cy="1428900"/>
          </a:xfrm>
        </p:grpSpPr>
        <p:sp>
          <p:nvSpPr>
            <p:cNvPr id="1008" name="Google Shape;1008;p72"/>
            <p:cNvSpPr/>
            <p:nvPr/>
          </p:nvSpPr>
          <p:spPr>
            <a:xfrm>
              <a:off x="4705350" y="2952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72"/>
            <p:cNvSpPr txBox="1"/>
            <p:nvPr/>
          </p:nvSpPr>
          <p:spPr>
            <a:xfrm>
              <a:off x="4705350" y="295275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2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Ansvaret for klinisk skjønn</a:t>
              </a:r>
              <a:endParaRPr b="1" sz="13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Det juridiske og etiske ansvaret for de valgene som tas i pasientbehandlingen.</a:t>
              </a:r>
              <a:endParaRPr b="0"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3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73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1016" name="Google Shape;1016;p73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Hvor i repoet finner dere temaene vi har snakket om?</a:t>
            </a:r>
            <a:endParaRPr sz="1100"/>
          </a:p>
        </p:txBody>
      </p:sp>
      <p:grpSp>
        <p:nvGrpSpPr>
          <p:cNvPr id="1017" name="Google Shape;1017;p73"/>
          <p:cNvGrpSpPr/>
          <p:nvPr/>
        </p:nvGrpSpPr>
        <p:grpSpPr>
          <a:xfrm>
            <a:off x="514350" y="1190625"/>
            <a:ext cx="8201025" cy="3095550"/>
            <a:chOff x="514350" y="1190625"/>
            <a:chExt cx="8201025" cy="3095550"/>
          </a:xfrm>
        </p:grpSpPr>
        <p:grpSp>
          <p:nvGrpSpPr>
            <p:cNvPr id="1018" name="Google Shape;1018;p73"/>
            <p:cNvGrpSpPr/>
            <p:nvPr/>
          </p:nvGrpSpPr>
          <p:grpSpPr>
            <a:xfrm>
              <a:off x="514350" y="1190625"/>
              <a:ext cx="1943100" cy="1476300"/>
              <a:chOff x="514350" y="1190625"/>
              <a:chExt cx="1943100" cy="1476300"/>
            </a:xfrm>
          </p:grpSpPr>
          <p:sp>
            <p:nvSpPr>
              <p:cNvPr id="1019" name="Google Shape;1019;p73"/>
              <p:cNvSpPr/>
              <p:nvPr/>
            </p:nvSpPr>
            <p:spPr>
              <a:xfrm>
                <a:off x="514350" y="1190625"/>
                <a:ext cx="1943100" cy="1476300"/>
              </a:xfrm>
              <a:prstGeom prst="roundRect">
                <a:avLst>
                  <a:gd fmla="val 516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73"/>
              <p:cNvSpPr txBox="1"/>
              <p:nvPr/>
            </p:nvSpPr>
            <p:spPr>
              <a:xfrm>
                <a:off x="609600" y="1285875"/>
                <a:ext cx="17526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add_chart</a:t>
                </a:r>
                <a:endParaRPr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Risiko og kalibrering</a:t>
                </a:r>
                <a:endParaRPr b="1" sz="10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Klinisk vurdering og terskelvalg.</a:t>
                </a:r>
                <a:endParaRPr sz="8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1" name="Google Shape;1021;p73"/>
            <p:cNvGrpSpPr/>
            <p:nvPr/>
          </p:nvGrpSpPr>
          <p:grpSpPr>
            <a:xfrm>
              <a:off x="2600325" y="1190625"/>
              <a:ext cx="1943100" cy="1476300"/>
              <a:chOff x="2600325" y="1190625"/>
              <a:chExt cx="1943100" cy="1476300"/>
            </a:xfrm>
          </p:grpSpPr>
          <p:sp>
            <p:nvSpPr>
              <p:cNvPr id="1022" name="Google Shape;1022;p73"/>
              <p:cNvSpPr/>
              <p:nvPr/>
            </p:nvSpPr>
            <p:spPr>
              <a:xfrm>
                <a:off x="2600325" y="1190625"/>
                <a:ext cx="1943100" cy="1476300"/>
              </a:xfrm>
              <a:prstGeom prst="roundRect">
                <a:avLst>
                  <a:gd fmla="val 516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73"/>
              <p:cNvSpPr txBox="1"/>
              <p:nvPr/>
            </p:nvSpPr>
            <p:spPr>
              <a:xfrm>
                <a:off x="2695575" y="1285875"/>
                <a:ext cx="17526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waves</a:t>
                </a:r>
                <a:endParaRPr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Generalisering</a:t>
                </a:r>
                <a:endParaRPr b="1" sz="10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Modeller feiler når data endrer seg.</a:t>
                </a:r>
                <a:endParaRPr sz="8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4" name="Google Shape;1024;p73"/>
            <p:cNvGrpSpPr/>
            <p:nvPr/>
          </p:nvGrpSpPr>
          <p:grpSpPr>
            <a:xfrm>
              <a:off x="4686300" y="1190625"/>
              <a:ext cx="1943100" cy="1476300"/>
              <a:chOff x="4686300" y="1190625"/>
              <a:chExt cx="1943100" cy="1476300"/>
            </a:xfrm>
          </p:grpSpPr>
          <p:sp>
            <p:nvSpPr>
              <p:cNvPr id="1025" name="Google Shape;1025;p73"/>
              <p:cNvSpPr/>
              <p:nvPr/>
            </p:nvSpPr>
            <p:spPr>
              <a:xfrm>
                <a:off x="4686300" y="1190625"/>
                <a:ext cx="1943100" cy="1476300"/>
              </a:xfrm>
              <a:prstGeom prst="roundRect">
                <a:avLst>
                  <a:gd fmla="val 516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73"/>
              <p:cNvSpPr txBox="1"/>
              <p:nvPr/>
            </p:nvSpPr>
            <p:spPr>
              <a:xfrm>
                <a:off x="4781550" y="1285875"/>
                <a:ext cx="17526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balance</a:t>
                </a:r>
                <a:endParaRPr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Bias og rettferdighet</a:t>
                </a:r>
                <a:endParaRPr b="1" sz="10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Skjevhet i klinisk kontekst.</a:t>
                </a:r>
                <a:endParaRPr sz="8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7" name="Google Shape;1027;p73"/>
            <p:cNvGrpSpPr/>
            <p:nvPr/>
          </p:nvGrpSpPr>
          <p:grpSpPr>
            <a:xfrm>
              <a:off x="6772275" y="1190625"/>
              <a:ext cx="1943100" cy="1476300"/>
              <a:chOff x="6772275" y="1190625"/>
              <a:chExt cx="1943100" cy="1476300"/>
            </a:xfrm>
          </p:grpSpPr>
          <p:sp>
            <p:nvSpPr>
              <p:cNvPr id="1028" name="Google Shape;1028;p73"/>
              <p:cNvSpPr/>
              <p:nvPr/>
            </p:nvSpPr>
            <p:spPr>
              <a:xfrm>
                <a:off x="6772275" y="1190625"/>
                <a:ext cx="1943100" cy="1476300"/>
              </a:xfrm>
              <a:prstGeom prst="roundRect">
                <a:avLst>
                  <a:gd fmla="val 516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73"/>
              <p:cNvSpPr txBox="1"/>
              <p:nvPr/>
            </p:nvSpPr>
            <p:spPr>
              <a:xfrm>
                <a:off x="6867525" y="1285875"/>
                <a:ext cx="17526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privacy_tip</a:t>
                </a:r>
                <a:endParaRPr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Personvern</a:t>
                </a:r>
                <a:endParaRPr b="1" sz="10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GDPR og helseopplysninger.</a:t>
                </a:r>
                <a:endParaRPr sz="8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0" name="Google Shape;1030;p73"/>
            <p:cNvGrpSpPr/>
            <p:nvPr/>
          </p:nvGrpSpPr>
          <p:grpSpPr>
            <a:xfrm>
              <a:off x="514350" y="2809875"/>
              <a:ext cx="1943100" cy="1476300"/>
              <a:chOff x="514350" y="2809875"/>
              <a:chExt cx="1943100" cy="1476300"/>
            </a:xfrm>
          </p:grpSpPr>
          <p:sp>
            <p:nvSpPr>
              <p:cNvPr id="1031" name="Google Shape;1031;p73"/>
              <p:cNvSpPr/>
              <p:nvPr/>
            </p:nvSpPr>
            <p:spPr>
              <a:xfrm>
                <a:off x="514350" y="2809875"/>
                <a:ext cx="1943100" cy="1476300"/>
              </a:xfrm>
              <a:prstGeom prst="roundRect">
                <a:avLst>
                  <a:gd fmla="val 516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73"/>
              <p:cNvSpPr txBox="1"/>
              <p:nvPr/>
            </p:nvSpPr>
            <p:spPr>
              <a:xfrm>
                <a:off x="609600" y="2905125"/>
                <a:ext cx="17526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gavel</a:t>
                </a:r>
                <a:endParaRPr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Regulering</a:t>
                </a:r>
                <a:endParaRPr b="1" sz="10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CE, MDR og medisinsk AI.</a:t>
                </a:r>
                <a:endParaRPr sz="8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3" name="Google Shape;1033;p73"/>
            <p:cNvGrpSpPr/>
            <p:nvPr/>
          </p:nvGrpSpPr>
          <p:grpSpPr>
            <a:xfrm>
              <a:off x="2600325" y="2809875"/>
              <a:ext cx="1943100" cy="1476300"/>
              <a:chOff x="2600325" y="2809875"/>
              <a:chExt cx="1943100" cy="1476300"/>
            </a:xfrm>
          </p:grpSpPr>
          <p:sp>
            <p:nvSpPr>
              <p:cNvPr id="1034" name="Google Shape;1034;p73"/>
              <p:cNvSpPr/>
              <p:nvPr/>
            </p:nvSpPr>
            <p:spPr>
              <a:xfrm>
                <a:off x="2600325" y="2809875"/>
                <a:ext cx="1943100" cy="1476300"/>
              </a:xfrm>
              <a:prstGeom prst="roundRect">
                <a:avLst>
                  <a:gd fmla="val 516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73"/>
              <p:cNvSpPr txBox="1"/>
              <p:nvPr/>
            </p:nvSpPr>
            <p:spPr>
              <a:xfrm>
                <a:off x="2695575" y="2905125"/>
                <a:ext cx="17526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verified_user</a:t>
                </a:r>
                <a:endParaRPr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Trustworthy AI</a:t>
                </a:r>
                <a:endParaRPr b="1" sz="10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Robusthet og monitorering.</a:t>
                </a:r>
                <a:endParaRPr sz="8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6" name="Google Shape;1036;p73"/>
            <p:cNvGrpSpPr/>
            <p:nvPr/>
          </p:nvGrpSpPr>
          <p:grpSpPr>
            <a:xfrm>
              <a:off x="4686300" y="2809875"/>
              <a:ext cx="1943100" cy="1476300"/>
              <a:chOff x="4686300" y="2809875"/>
              <a:chExt cx="1943100" cy="1476300"/>
            </a:xfrm>
          </p:grpSpPr>
          <p:sp>
            <p:nvSpPr>
              <p:cNvPr id="1037" name="Google Shape;1037;p73"/>
              <p:cNvSpPr/>
              <p:nvPr/>
            </p:nvSpPr>
            <p:spPr>
              <a:xfrm>
                <a:off x="4686300" y="2809875"/>
                <a:ext cx="1943100" cy="1476300"/>
              </a:xfrm>
              <a:prstGeom prst="roundRect">
                <a:avLst>
                  <a:gd fmla="val 516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73"/>
              <p:cNvSpPr txBox="1"/>
              <p:nvPr/>
            </p:nvSpPr>
            <p:spPr>
              <a:xfrm>
                <a:off x="4781550" y="2905125"/>
                <a:ext cx="17526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psychology_alt</a:t>
                </a:r>
                <a:endParaRPr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Hallusinasjoner</a:t>
                </a:r>
                <a:endParaRPr b="1" sz="10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Feilaktig språk og fakta.</a:t>
                </a:r>
                <a:endParaRPr sz="8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9" name="Google Shape;1039;p73"/>
            <p:cNvGrpSpPr/>
            <p:nvPr/>
          </p:nvGrpSpPr>
          <p:grpSpPr>
            <a:xfrm>
              <a:off x="6772275" y="2809875"/>
              <a:ext cx="1943100" cy="1476300"/>
              <a:chOff x="6772275" y="2809875"/>
              <a:chExt cx="1943100" cy="1476300"/>
            </a:xfrm>
          </p:grpSpPr>
          <p:sp>
            <p:nvSpPr>
              <p:cNvPr id="1040" name="Google Shape;1040;p73"/>
              <p:cNvSpPr/>
              <p:nvPr/>
            </p:nvSpPr>
            <p:spPr>
              <a:xfrm>
                <a:off x="6772275" y="2809875"/>
                <a:ext cx="1943100" cy="1476300"/>
              </a:xfrm>
              <a:prstGeom prst="roundRect">
                <a:avLst>
                  <a:gd fmla="val 516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73"/>
              <p:cNvSpPr txBox="1"/>
              <p:nvPr/>
            </p:nvSpPr>
            <p:spPr>
              <a:xfrm>
                <a:off x="6867525" y="2905125"/>
                <a:ext cx="17526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warning</a:t>
                </a:r>
                <a:endParaRPr sz="20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Kritisk sans</a:t>
                </a:r>
                <a:endParaRPr b="1" sz="10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Risiko for ukritisk overtakelse.</a:t>
                </a:r>
                <a:endParaRPr sz="8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42" name="Google Shape;1042;p73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README.md </a:t>
            </a: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     |      uke08-etikk-implementering/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README.md</a:t>
            </a:r>
            <a:endParaRPr sz="1100"/>
          </a:p>
        </p:txBody>
      </p:sp>
      <p:pic>
        <p:nvPicPr>
          <p:cNvPr id="1043" name="Google Shape;1043;p7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112" y="240445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6448" y="240445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73">
            <a:hlinkClick r:id="rId7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2773" y="240445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73">
            <a:hlinkClick r:id="rId8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49098" y="240445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73">
            <a:hlinkClick r:id="rId9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87" y="398820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73">
            <a:hlinkClick r:id="rId10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6450" y="398820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2775" y="398820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49112" y="39882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74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74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1057" name="Google Shape;1057;p74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Hva kan være lavere risiko og likevel nyttig?</a:t>
            </a:r>
            <a:endParaRPr sz="1100"/>
          </a:p>
        </p:txBody>
      </p:sp>
      <p:grpSp>
        <p:nvGrpSpPr>
          <p:cNvPr id="1058" name="Google Shape;1058;p74"/>
          <p:cNvGrpSpPr/>
          <p:nvPr/>
        </p:nvGrpSpPr>
        <p:grpSpPr>
          <a:xfrm>
            <a:off x="514350" y="1333500"/>
            <a:ext cx="3905400" cy="1285800"/>
            <a:chOff x="514350" y="1333500"/>
            <a:chExt cx="3905400" cy="1285800"/>
          </a:xfrm>
        </p:grpSpPr>
        <p:sp>
          <p:nvSpPr>
            <p:cNvPr id="1059" name="Google Shape;1059;p74"/>
            <p:cNvSpPr/>
            <p:nvPr/>
          </p:nvSpPr>
          <p:spPr>
            <a:xfrm>
              <a:off x="514350" y="1333500"/>
              <a:ext cx="39054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74"/>
            <p:cNvSpPr txBox="1"/>
            <p:nvPr/>
          </p:nvSpPr>
          <p:spPr>
            <a:xfrm>
              <a:off x="514350" y="1333500"/>
              <a:ext cx="3905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5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format_align_left</a:t>
              </a:r>
              <a:endParaRPr sz="2405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Strukturering av tekst</a:t>
              </a:r>
              <a:endParaRPr b="1" sz="1203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Organisering og formatering av ustrukturerte notater til faste maler.</a:t>
              </a:r>
              <a:endParaRPr b="0" sz="925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1" name="Google Shape;1061;p74"/>
          <p:cNvGrpSpPr/>
          <p:nvPr/>
        </p:nvGrpSpPr>
        <p:grpSpPr>
          <a:xfrm>
            <a:off x="4705350" y="1333500"/>
            <a:ext cx="3905400" cy="1285800"/>
            <a:chOff x="4705350" y="1333500"/>
            <a:chExt cx="3905400" cy="1285800"/>
          </a:xfrm>
        </p:grpSpPr>
        <p:sp>
          <p:nvSpPr>
            <p:cNvPr id="1062" name="Google Shape;1062;p74"/>
            <p:cNvSpPr/>
            <p:nvPr/>
          </p:nvSpPr>
          <p:spPr>
            <a:xfrm>
              <a:off x="4705350" y="1333500"/>
              <a:ext cx="39054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74"/>
            <p:cNvSpPr txBox="1"/>
            <p:nvPr/>
          </p:nvSpPr>
          <p:spPr>
            <a:xfrm>
              <a:off x="4705350" y="1333500"/>
              <a:ext cx="3905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1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summarize</a:t>
              </a:r>
              <a:endParaRPr sz="221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5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Oppsummering av informasjon</a:t>
              </a:r>
              <a:endParaRPr b="1" sz="1105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Kortfattet gjengivelse av lange pasientjournaler eller forskningsartikler.</a:t>
              </a:r>
              <a:endParaRPr b="0" sz="85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4" name="Google Shape;1064;p74"/>
          <p:cNvGrpSpPr/>
          <p:nvPr/>
        </p:nvGrpSpPr>
        <p:grpSpPr>
          <a:xfrm>
            <a:off x="514350" y="2857500"/>
            <a:ext cx="3905400" cy="1285800"/>
            <a:chOff x="514350" y="2857500"/>
            <a:chExt cx="3905400" cy="1285800"/>
          </a:xfrm>
        </p:grpSpPr>
        <p:sp>
          <p:nvSpPr>
            <p:cNvPr id="1065" name="Google Shape;1065;p74"/>
            <p:cNvSpPr/>
            <p:nvPr/>
          </p:nvSpPr>
          <p:spPr>
            <a:xfrm>
              <a:off x="514350" y="2857500"/>
              <a:ext cx="39054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74"/>
            <p:cNvSpPr txBox="1"/>
            <p:nvPr/>
          </p:nvSpPr>
          <p:spPr>
            <a:xfrm>
              <a:off x="514350" y="2857500"/>
              <a:ext cx="3905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1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support_agent</a:t>
              </a:r>
              <a:endParaRPr sz="221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5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Administrative støtteoppgaver</a:t>
              </a:r>
              <a:endParaRPr b="1" sz="1105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Automatisering av rutineoppgaver som ikke krever klinisk beslutningstaking.</a:t>
              </a:r>
              <a:endParaRPr b="0" sz="85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7" name="Google Shape;1067;p74"/>
          <p:cNvGrpSpPr/>
          <p:nvPr/>
        </p:nvGrpSpPr>
        <p:grpSpPr>
          <a:xfrm>
            <a:off x="4705350" y="2857500"/>
            <a:ext cx="3905400" cy="1285800"/>
            <a:chOff x="4705350" y="2857500"/>
            <a:chExt cx="3905400" cy="1285800"/>
          </a:xfrm>
        </p:grpSpPr>
        <p:sp>
          <p:nvSpPr>
            <p:cNvPr id="1068" name="Google Shape;1068;p74"/>
            <p:cNvSpPr/>
            <p:nvPr/>
          </p:nvSpPr>
          <p:spPr>
            <a:xfrm>
              <a:off x="4705350" y="2857500"/>
              <a:ext cx="39054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74"/>
            <p:cNvSpPr txBox="1"/>
            <p:nvPr/>
          </p:nvSpPr>
          <p:spPr>
            <a:xfrm>
              <a:off x="4705350" y="2857500"/>
              <a:ext cx="39054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1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assignment_turned_in</a:t>
              </a:r>
              <a:endParaRPr sz="221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5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Utkast kontrollert av fagperson</a:t>
              </a:r>
              <a:endParaRPr b="1" sz="1105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AI genererer utkastet, men menneskelig ekspertise sikrer sluttkvaliteten.</a:t>
              </a:r>
              <a:endParaRPr b="0" sz="85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5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75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1076" name="Google Shape;1076;p75"/>
          <p:cNvSpPr txBox="1"/>
          <p:nvPr/>
        </p:nvSpPr>
        <p:spPr>
          <a:xfrm>
            <a:off x="514350" y="651510"/>
            <a:ext cx="7818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Visuelt case: generativ AI i dokumentasjon</a:t>
            </a:r>
            <a:endParaRPr sz="1100"/>
          </a:p>
        </p:txBody>
      </p:sp>
      <p:sp>
        <p:nvSpPr>
          <p:cNvPr id="1077" name="Google Shape;1077;p75"/>
          <p:cNvSpPr txBox="1"/>
          <p:nvPr/>
        </p:nvSpPr>
        <p:spPr>
          <a:xfrm>
            <a:off x="514350" y="1190625"/>
            <a:ext cx="8092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6857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rPr>
              <a:t>Tenk deg at et system lager utkast til epikrise, pasientbrev eller journalsammendrag basert på eksisterende tekst og struktur.</a:t>
            </a:r>
            <a:endParaRPr b="1" sz="1300">
              <a:solidFill>
                <a:srgbClr val="1F1A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8" name="Google Shape;1078;p75"/>
          <p:cNvGrpSpPr/>
          <p:nvPr/>
        </p:nvGrpSpPr>
        <p:grpSpPr>
          <a:xfrm>
            <a:off x="514350" y="1905000"/>
            <a:ext cx="3943200" cy="2667000"/>
            <a:chOff x="514350" y="1905000"/>
            <a:chExt cx="3943200" cy="2667000"/>
          </a:xfrm>
        </p:grpSpPr>
        <p:sp>
          <p:nvSpPr>
            <p:cNvPr id="1079" name="Google Shape;1079;p75"/>
            <p:cNvSpPr/>
            <p:nvPr/>
          </p:nvSpPr>
          <p:spPr>
            <a:xfrm>
              <a:off x="514350" y="1905000"/>
              <a:ext cx="39432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75"/>
            <p:cNvSpPr txBox="1"/>
            <p:nvPr/>
          </p:nvSpPr>
          <p:spPr>
            <a:xfrm>
              <a:off x="704850" y="2130552"/>
              <a:ext cx="3562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add_circle_outline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81" name="Google Shape;1081;p75"/>
            <p:cNvSpPr txBox="1"/>
            <p:nvPr/>
          </p:nvSpPr>
          <p:spPr>
            <a:xfrm>
              <a:off x="704850" y="2524125"/>
              <a:ext cx="356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Mulige gevinster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82" name="Google Shape;1082;p75"/>
            <p:cNvSpPr txBox="1"/>
            <p:nvPr/>
          </p:nvSpPr>
          <p:spPr>
            <a:xfrm>
              <a:off x="704850" y="2905125"/>
              <a:ext cx="3562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Sparer tid i formulering og strukturering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Kan gjøre dokumentasjon mer konsistent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Kan være nyttig som førsteutkast i lavere risiko-oppgaver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3" name="Google Shape;1083;p75"/>
          <p:cNvGrpSpPr/>
          <p:nvPr/>
        </p:nvGrpSpPr>
        <p:grpSpPr>
          <a:xfrm>
            <a:off x="4667250" y="1905000"/>
            <a:ext cx="3943200" cy="2667000"/>
            <a:chOff x="4667250" y="1905000"/>
            <a:chExt cx="3943200" cy="2667000"/>
          </a:xfrm>
        </p:grpSpPr>
        <p:sp>
          <p:nvSpPr>
            <p:cNvPr id="1084" name="Google Shape;1084;p75"/>
            <p:cNvSpPr/>
            <p:nvPr/>
          </p:nvSpPr>
          <p:spPr>
            <a:xfrm>
              <a:off x="4667250" y="1905000"/>
              <a:ext cx="39432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75"/>
            <p:cNvSpPr txBox="1"/>
            <p:nvPr/>
          </p:nvSpPr>
          <p:spPr>
            <a:xfrm>
              <a:off x="4857750" y="2130552"/>
              <a:ext cx="3562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86" name="Google Shape;1086;p75"/>
            <p:cNvSpPr txBox="1"/>
            <p:nvPr/>
          </p:nvSpPr>
          <p:spPr>
            <a:xfrm>
              <a:off x="4857750" y="2524125"/>
              <a:ext cx="3562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Hva må kontrolleres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87" name="Google Shape;1087;p75"/>
            <p:cNvSpPr txBox="1"/>
            <p:nvPr/>
          </p:nvSpPr>
          <p:spPr>
            <a:xfrm>
              <a:off x="4857750" y="2905125"/>
              <a:ext cx="3562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At innholdet faktisk stemmer med pasientforløpet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At det ikke introduseres feil, hallusinasjoner eller tvetydighet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F1A17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1F1A17"/>
                  </a:solidFill>
                  <a:latin typeface="Arial"/>
                  <a:ea typeface="Arial"/>
                  <a:cs typeface="Arial"/>
                  <a:sym typeface="Arial"/>
                </a:rPr>
                <a:t>At kliniker fortsatt har ansvar for språk, innhold og konsekvenser</a:t>
              </a:r>
              <a:endParaRPr sz="1100">
                <a:solidFill>
                  <a:srgbClr val="1F1A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8" name="Google Shape;1088;p75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uke04-generativ-ai/04_chatgpt_claude_api.ipynb                                                          |      intro_openai_anthropic.ipynb</a:t>
            </a:r>
            <a:endParaRPr sz="1100"/>
          </a:p>
        </p:txBody>
      </p:sp>
      <p:pic>
        <p:nvPicPr>
          <p:cNvPr id="1089" name="Google Shape;1089;p7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11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75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1862" y="4766300"/>
            <a:ext cx="1026583" cy="1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6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76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1097" name="Google Shape;1097;p76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Praktisk sjekkliste før innføring</a:t>
            </a:r>
            <a:endParaRPr sz="1100"/>
          </a:p>
        </p:txBody>
      </p:sp>
      <p:grpSp>
        <p:nvGrpSpPr>
          <p:cNvPr id="1098" name="Google Shape;1098;p76"/>
          <p:cNvGrpSpPr/>
          <p:nvPr/>
        </p:nvGrpSpPr>
        <p:grpSpPr>
          <a:xfrm>
            <a:off x="514350" y="1333500"/>
            <a:ext cx="3905400" cy="1333500"/>
            <a:chOff x="514350" y="1333500"/>
            <a:chExt cx="3905400" cy="1333500"/>
          </a:xfrm>
        </p:grpSpPr>
        <p:sp>
          <p:nvSpPr>
            <p:cNvPr id="1099" name="Google Shape;1099;p76"/>
            <p:cNvSpPr/>
            <p:nvPr/>
          </p:nvSpPr>
          <p:spPr>
            <a:xfrm>
              <a:off x="514350" y="1333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76"/>
            <p:cNvSpPr txBox="1"/>
            <p:nvPr/>
          </p:nvSpPr>
          <p:spPr>
            <a:xfrm>
              <a:off x="514350" y="133350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Hvilket problem skal løses?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Definer klart formålet med AI-løsningen før start.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1" name="Google Shape;1101;p76"/>
          <p:cNvGrpSpPr/>
          <p:nvPr/>
        </p:nvGrpSpPr>
        <p:grpSpPr>
          <a:xfrm>
            <a:off x="4724400" y="1333500"/>
            <a:ext cx="3905400" cy="1333500"/>
            <a:chOff x="4724400" y="1333500"/>
            <a:chExt cx="3905400" cy="1333500"/>
          </a:xfrm>
        </p:grpSpPr>
        <p:sp>
          <p:nvSpPr>
            <p:cNvPr id="1102" name="Google Shape;1102;p76"/>
            <p:cNvSpPr/>
            <p:nvPr/>
          </p:nvSpPr>
          <p:spPr>
            <a:xfrm>
              <a:off x="4724400" y="1333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76"/>
            <p:cNvSpPr txBox="1"/>
            <p:nvPr/>
          </p:nvSpPr>
          <p:spPr>
            <a:xfrm>
              <a:off x="4724400" y="133350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straighten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Finnes en god baseline uten AI?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Vurder om eksisterende metoder er tilstrekkelige.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4" name="Google Shape;1104;p76"/>
          <p:cNvGrpSpPr/>
          <p:nvPr/>
        </p:nvGrpSpPr>
        <p:grpSpPr>
          <a:xfrm>
            <a:off x="514350" y="2857500"/>
            <a:ext cx="3905400" cy="1333500"/>
            <a:chOff x="514350" y="2857500"/>
            <a:chExt cx="3905400" cy="1333500"/>
          </a:xfrm>
        </p:grpSpPr>
        <p:sp>
          <p:nvSpPr>
            <p:cNvPr id="1105" name="Google Shape;1105;p76"/>
            <p:cNvSpPr/>
            <p:nvPr/>
          </p:nvSpPr>
          <p:spPr>
            <a:xfrm>
              <a:off x="514350" y="2857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76"/>
            <p:cNvSpPr txBox="1"/>
            <p:nvPr/>
          </p:nvSpPr>
          <p:spPr>
            <a:xfrm>
              <a:off x="514350" y="285750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Er data og validering god nok?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Sikre datakvalitet og at relevant testing er utført.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7" name="Google Shape;1107;p76"/>
          <p:cNvGrpSpPr/>
          <p:nvPr/>
        </p:nvGrpSpPr>
        <p:grpSpPr>
          <a:xfrm>
            <a:off x="4724400" y="2857500"/>
            <a:ext cx="3905400" cy="1333500"/>
            <a:chOff x="4724400" y="2857500"/>
            <a:chExt cx="3905400" cy="1333500"/>
          </a:xfrm>
        </p:grpSpPr>
        <p:sp>
          <p:nvSpPr>
            <p:cNvPr id="1108" name="Google Shape;1108;p76"/>
            <p:cNvSpPr/>
            <p:nvPr/>
          </p:nvSpPr>
          <p:spPr>
            <a:xfrm>
              <a:off x="4724400" y="2857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76"/>
            <p:cNvSpPr txBox="1"/>
            <p:nvPr/>
          </p:nvSpPr>
          <p:spPr>
            <a:xfrm>
              <a:off x="4724400" y="285750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Hvem har ansvar hvis noe går galt?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Etabler tydelige ansvarslinjer for drift og avvik.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7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77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1116" name="Google Shape;1116;p77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Praktisk sjekkliste under bruk</a:t>
            </a:r>
            <a:endParaRPr sz="1100"/>
          </a:p>
        </p:txBody>
      </p:sp>
      <p:grpSp>
        <p:nvGrpSpPr>
          <p:cNvPr id="1117" name="Google Shape;1117;p77"/>
          <p:cNvGrpSpPr/>
          <p:nvPr/>
        </p:nvGrpSpPr>
        <p:grpSpPr>
          <a:xfrm>
            <a:off x="514350" y="1333500"/>
            <a:ext cx="3905400" cy="1333500"/>
            <a:chOff x="514350" y="1333500"/>
            <a:chExt cx="3905400" cy="1333500"/>
          </a:xfrm>
        </p:grpSpPr>
        <p:sp>
          <p:nvSpPr>
            <p:cNvPr id="1118" name="Google Shape;1118;p77"/>
            <p:cNvSpPr/>
            <p:nvPr/>
          </p:nvSpPr>
          <p:spPr>
            <a:xfrm>
              <a:off x="514350" y="1333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77"/>
            <p:cNvSpPr txBox="1"/>
            <p:nvPr/>
          </p:nvSpPr>
          <p:spPr>
            <a:xfrm>
              <a:off x="514350" y="1333500"/>
              <a:ext cx="39054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monitoring</a:t>
              </a:r>
              <a:endParaRPr b="0"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Følger vi med på avvik?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Systematisk overvåking av uventet oppførsel.</a:t>
              </a:r>
              <a:endParaRPr b="0"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0" name="Google Shape;1120;p77"/>
          <p:cNvGrpSpPr/>
          <p:nvPr/>
        </p:nvGrpSpPr>
        <p:grpSpPr>
          <a:xfrm>
            <a:off x="4724400" y="1333500"/>
            <a:ext cx="3905400" cy="1333500"/>
            <a:chOff x="4724400" y="1333500"/>
            <a:chExt cx="3905400" cy="1333500"/>
          </a:xfrm>
        </p:grpSpPr>
        <p:sp>
          <p:nvSpPr>
            <p:cNvPr id="1121" name="Google Shape;1121;p77"/>
            <p:cNvSpPr/>
            <p:nvPr/>
          </p:nvSpPr>
          <p:spPr>
            <a:xfrm>
              <a:off x="4724400" y="1333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77"/>
            <p:cNvSpPr txBox="1"/>
            <p:nvPr/>
          </p:nvSpPr>
          <p:spPr>
            <a:xfrm>
              <a:off x="4724400" y="1333500"/>
              <a:ext cx="39054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Forstår brukerne begrensningene?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Sikre at personell vet hva verktøyet ikke kan.</a:t>
              </a:r>
              <a:endParaRPr b="0"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3" name="Google Shape;1123;p77"/>
          <p:cNvGrpSpPr/>
          <p:nvPr/>
        </p:nvGrpSpPr>
        <p:grpSpPr>
          <a:xfrm>
            <a:off x="514350" y="2857500"/>
            <a:ext cx="3905400" cy="1333500"/>
            <a:chOff x="514350" y="2857500"/>
            <a:chExt cx="3905400" cy="1333500"/>
          </a:xfrm>
        </p:grpSpPr>
        <p:sp>
          <p:nvSpPr>
            <p:cNvPr id="1124" name="Google Shape;1124;p77"/>
            <p:cNvSpPr/>
            <p:nvPr/>
          </p:nvSpPr>
          <p:spPr>
            <a:xfrm>
              <a:off x="514350" y="2857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77"/>
            <p:cNvSpPr txBox="1"/>
            <p:nvPr/>
          </p:nvSpPr>
          <p:spPr>
            <a:xfrm>
              <a:off x="514350" y="2857500"/>
              <a:ext cx="39054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b="0"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Har vi tydelig rollefordeling?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Klare ansvarsområder mellom menneske og maskin.</a:t>
              </a:r>
              <a:endParaRPr b="0"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77"/>
          <p:cNvGrpSpPr/>
          <p:nvPr/>
        </p:nvGrpSpPr>
        <p:grpSpPr>
          <a:xfrm>
            <a:off x="4724400" y="2857500"/>
            <a:ext cx="3905400" cy="1333500"/>
            <a:chOff x="4724400" y="2857500"/>
            <a:chExt cx="3905400" cy="1333500"/>
          </a:xfrm>
        </p:grpSpPr>
        <p:sp>
          <p:nvSpPr>
            <p:cNvPr id="1127" name="Google Shape;1127;p77"/>
            <p:cNvSpPr/>
            <p:nvPr/>
          </p:nvSpPr>
          <p:spPr>
            <a:xfrm>
              <a:off x="4724400" y="2857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77"/>
            <p:cNvSpPr txBox="1"/>
            <p:nvPr/>
          </p:nvSpPr>
          <p:spPr>
            <a:xfrm>
              <a:off x="4724400" y="2857500"/>
              <a:ext cx="39054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block</a:t>
              </a:r>
              <a:endParaRPr b="0"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Vet vi når systemet ikke bør brukes?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Identifisere "out-of-bounds" scenarier.</a:t>
              </a:r>
              <a:endParaRPr b="0"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78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78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1135" name="Google Shape;1135;p78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Praktisk sjekkliste etter innføring</a:t>
            </a:r>
            <a:endParaRPr sz="1100"/>
          </a:p>
        </p:txBody>
      </p:sp>
      <p:grpSp>
        <p:nvGrpSpPr>
          <p:cNvPr id="1136" name="Google Shape;1136;p78"/>
          <p:cNvGrpSpPr/>
          <p:nvPr/>
        </p:nvGrpSpPr>
        <p:grpSpPr>
          <a:xfrm>
            <a:off x="514350" y="1333500"/>
            <a:ext cx="3905400" cy="1333500"/>
            <a:chOff x="514350" y="1333500"/>
            <a:chExt cx="3905400" cy="1333500"/>
          </a:xfrm>
        </p:grpSpPr>
        <p:sp>
          <p:nvSpPr>
            <p:cNvPr id="1137" name="Google Shape;1137;p78"/>
            <p:cNvSpPr/>
            <p:nvPr/>
          </p:nvSpPr>
          <p:spPr>
            <a:xfrm>
              <a:off x="514350" y="1333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78"/>
            <p:cNvSpPr txBox="1"/>
            <p:nvPr/>
          </p:nvSpPr>
          <p:spPr>
            <a:xfrm>
              <a:off x="514350" y="133350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Re-evaluer ytelse over tid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Overvåk systemets nøyaktighet og relevans regelmessig.</a:t>
              </a:r>
              <a:endParaRPr b="0"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9" name="Google Shape;1139;p78"/>
          <p:cNvGrpSpPr/>
          <p:nvPr/>
        </p:nvGrpSpPr>
        <p:grpSpPr>
          <a:xfrm>
            <a:off x="4724400" y="1333500"/>
            <a:ext cx="3905400" cy="1333500"/>
            <a:chOff x="4724400" y="1333500"/>
            <a:chExt cx="3905400" cy="1333500"/>
          </a:xfrm>
        </p:grpSpPr>
        <p:sp>
          <p:nvSpPr>
            <p:cNvPr id="1140" name="Google Shape;1140;p78"/>
            <p:cNvSpPr/>
            <p:nvPr/>
          </p:nvSpPr>
          <p:spPr>
            <a:xfrm>
              <a:off x="4724400" y="1333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78"/>
            <p:cNvSpPr txBox="1"/>
            <p:nvPr/>
          </p:nvSpPr>
          <p:spPr>
            <a:xfrm>
              <a:off x="4724400" y="133350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Pasientgrunnlag og praksis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Se etter endringer i demografi eller kliniske arbeidsflyter.</a:t>
              </a:r>
              <a:endParaRPr b="0"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2" name="Google Shape;1142;p78"/>
          <p:cNvGrpSpPr/>
          <p:nvPr/>
        </p:nvGrpSpPr>
        <p:grpSpPr>
          <a:xfrm>
            <a:off x="514350" y="2857500"/>
            <a:ext cx="3905400" cy="1333500"/>
            <a:chOff x="514350" y="2857500"/>
            <a:chExt cx="3905400" cy="1333500"/>
          </a:xfrm>
        </p:grpSpPr>
        <p:sp>
          <p:nvSpPr>
            <p:cNvPr id="1143" name="Google Shape;1143;p78"/>
            <p:cNvSpPr/>
            <p:nvPr/>
          </p:nvSpPr>
          <p:spPr>
            <a:xfrm>
              <a:off x="514350" y="2857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78"/>
            <p:cNvSpPr txBox="1"/>
            <p:nvPr/>
          </p:nvSpPr>
          <p:spPr>
            <a:xfrm>
              <a:off x="514350" y="285750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2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222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Samle tilbakemeldinger</a:t>
              </a:r>
              <a:endParaRPr b="1" sz="1295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Lær av brukernes erfaringer for å identifisere forbedringspunkter.</a:t>
              </a:r>
              <a:endParaRPr b="0" sz="925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5" name="Google Shape;1145;p78"/>
          <p:cNvGrpSpPr/>
          <p:nvPr/>
        </p:nvGrpSpPr>
        <p:grpSpPr>
          <a:xfrm>
            <a:off x="4724400" y="2857500"/>
            <a:ext cx="3905400" cy="1333500"/>
            <a:chOff x="4724400" y="2857500"/>
            <a:chExt cx="3905400" cy="1333500"/>
          </a:xfrm>
        </p:grpSpPr>
        <p:sp>
          <p:nvSpPr>
            <p:cNvPr id="1146" name="Google Shape;1146;p78"/>
            <p:cNvSpPr/>
            <p:nvPr/>
          </p:nvSpPr>
          <p:spPr>
            <a:xfrm>
              <a:off x="4724400" y="2857500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78"/>
            <p:cNvSpPr txBox="1"/>
            <p:nvPr/>
          </p:nvSpPr>
          <p:spPr>
            <a:xfrm>
              <a:off x="4724400" y="2857500"/>
              <a:ext cx="3905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2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published_with_changes</a:t>
              </a:r>
              <a:endParaRPr sz="222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Oppdater eller stopp</a:t>
              </a:r>
              <a:endParaRPr b="1" sz="1295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Justér eller avvikle løsninger som ikke lenger fungerer godt nok.</a:t>
              </a:r>
              <a:endParaRPr b="0" sz="925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79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79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Del 2</a:t>
            </a:r>
            <a:endParaRPr sz="1100"/>
          </a:p>
        </p:txBody>
      </p:sp>
      <p:sp>
        <p:nvSpPr>
          <p:cNvPr id="1154" name="Google Shape;1154;p79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Mini-case 2: generativ AI lager pasientbrevutkast</a:t>
            </a:r>
            <a:endParaRPr sz="1100"/>
          </a:p>
        </p:txBody>
      </p:sp>
      <p:grpSp>
        <p:nvGrpSpPr>
          <p:cNvPr id="1155" name="Google Shape;1155;p79"/>
          <p:cNvGrpSpPr/>
          <p:nvPr/>
        </p:nvGrpSpPr>
        <p:grpSpPr>
          <a:xfrm>
            <a:off x="514350" y="1333500"/>
            <a:ext cx="3905400" cy="1428900"/>
            <a:chOff x="514350" y="1333500"/>
            <a:chExt cx="3905400" cy="1428900"/>
          </a:xfrm>
        </p:grpSpPr>
        <p:sp>
          <p:nvSpPr>
            <p:cNvPr id="1156" name="Google Shape;1156;p79"/>
            <p:cNvSpPr/>
            <p:nvPr/>
          </p:nvSpPr>
          <p:spPr>
            <a:xfrm>
              <a:off x="514350" y="133350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79"/>
            <p:cNvSpPr txBox="1"/>
            <p:nvPr/>
          </p:nvSpPr>
          <p:spPr>
            <a:xfrm>
              <a:off x="514350" y="133350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Hva kan være nyttig i et slikt verktøy?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Identifiser de konkrete fordelene for klinisk arbeidsflyt.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8" name="Google Shape;1158;p79"/>
          <p:cNvGrpSpPr/>
          <p:nvPr/>
        </p:nvGrpSpPr>
        <p:grpSpPr>
          <a:xfrm>
            <a:off x="4724400" y="1333500"/>
            <a:ext cx="3905400" cy="1428900"/>
            <a:chOff x="4724400" y="1333500"/>
            <a:chExt cx="3905400" cy="1428900"/>
          </a:xfrm>
        </p:grpSpPr>
        <p:sp>
          <p:nvSpPr>
            <p:cNvPr id="1159" name="Google Shape;1159;p79"/>
            <p:cNvSpPr/>
            <p:nvPr/>
          </p:nvSpPr>
          <p:spPr>
            <a:xfrm>
              <a:off x="4724400" y="133350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79"/>
            <p:cNvSpPr txBox="1"/>
            <p:nvPr/>
          </p:nvSpPr>
          <p:spPr>
            <a:xfrm>
              <a:off x="4724400" y="133350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Hva må alltid kontrolleres manuelt?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Sikre at menneskelig overoppsyn er integrert i prosessen.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1" name="Google Shape;1161;p79"/>
          <p:cNvGrpSpPr/>
          <p:nvPr/>
        </p:nvGrpSpPr>
        <p:grpSpPr>
          <a:xfrm>
            <a:off x="514350" y="2952750"/>
            <a:ext cx="3905400" cy="1428900"/>
            <a:chOff x="514350" y="2952750"/>
            <a:chExt cx="3905400" cy="1428900"/>
          </a:xfrm>
        </p:grpSpPr>
        <p:sp>
          <p:nvSpPr>
            <p:cNvPr id="1162" name="Google Shape;1162;p79"/>
            <p:cNvSpPr/>
            <p:nvPr/>
          </p:nvSpPr>
          <p:spPr>
            <a:xfrm>
              <a:off x="514350" y="2952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79"/>
            <p:cNvSpPr txBox="1"/>
            <p:nvPr/>
          </p:nvSpPr>
          <p:spPr>
            <a:xfrm>
              <a:off x="514350" y="295275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Hvor kan feil oppstå?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Kartlegg sårbare punkter i den generative prosessen.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4" name="Google Shape;1164;p79"/>
          <p:cNvGrpSpPr/>
          <p:nvPr/>
        </p:nvGrpSpPr>
        <p:grpSpPr>
          <a:xfrm>
            <a:off x="4724400" y="2952750"/>
            <a:ext cx="3905400" cy="1428900"/>
            <a:chOff x="4724400" y="2952750"/>
            <a:chExt cx="3905400" cy="1428900"/>
          </a:xfrm>
        </p:grpSpPr>
        <p:sp>
          <p:nvSpPr>
            <p:cNvPr id="1165" name="Google Shape;1165;p79"/>
            <p:cNvSpPr/>
            <p:nvPr/>
          </p:nvSpPr>
          <p:spPr>
            <a:xfrm>
              <a:off x="4724400" y="295275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79"/>
            <p:cNvSpPr txBox="1"/>
            <p:nvPr/>
          </p:nvSpPr>
          <p:spPr>
            <a:xfrm>
              <a:off x="4724400" y="295275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24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Hvordan sikre kvalitet og tillit?</a:t>
              </a:r>
              <a:endParaRPr b="1" sz="14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Strategier for å opprettholde faglige standarder ved bruk av AI.</a:t>
              </a:r>
              <a:endParaRPr sz="10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80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80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Avslutning</a:t>
            </a:r>
            <a:endParaRPr sz="1100"/>
          </a:p>
        </p:txBody>
      </p:sp>
      <p:sp>
        <p:nvSpPr>
          <p:cNvPr id="1173" name="Google Shape;1173;p80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Tre ting klinikere bør ta med seg</a:t>
            </a:r>
            <a:endParaRPr sz="1100"/>
          </a:p>
        </p:txBody>
      </p:sp>
      <p:grpSp>
        <p:nvGrpSpPr>
          <p:cNvPr id="1174" name="Google Shape;1174;p80"/>
          <p:cNvGrpSpPr/>
          <p:nvPr/>
        </p:nvGrpSpPr>
        <p:grpSpPr>
          <a:xfrm>
            <a:off x="514350" y="1333500"/>
            <a:ext cx="2571900" cy="2857500"/>
            <a:chOff x="514350" y="1333500"/>
            <a:chExt cx="2571900" cy="2857500"/>
          </a:xfrm>
        </p:grpSpPr>
        <p:sp>
          <p:nvSpPr>
            <p:cNvPr id="1175" name="Google Shape;1175;p80"/>
            <p:cNvSpPr/>
            <p:nvPr/>
          </p:nvSpPr>
          <p:spPr>
            <a:xfrm>
              <a:off x="514350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80"/>
            <p:cNvSpPr txBox="1"/>
            <p:nvPr/>
          </p:nvSpPr>
          <p:spPr>
            <a:xfrm>
              <a:off x="514350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Forståelse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AI kan være nyttig, men må brukes med forståelse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7" name="Google Shape;1177;p80"/>
          <p:cNvGrpSpPr/>
          <p:nvPr/>
        </p:nvGrpSpPr>
        <p:grpSpPr>
          <a:xfrm>
            <a:off x="3286125" y="1333500"/>
            <a:ext cx="2571900" cy="2857500"/>
            <a:chOff x="3286125" y="1333500"/>
            <a:chExt cx="2571900" cy="2857500"/>
          </a:xfrm>
        </p:grpSpPr>
        <p:sp>
          <p:nvSpPr>
            <p:cNvPr id="1178" name="Google Shape;1178;p80"/>
            <p:cNvSpPr/>
            <p:nvPr/>
          </p:nvSpPr>
          <p:spPr>
            <a:xfrm>
              <a:off x="3286125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80"/>
            <p:cNvSpPr txBox="1"/>
            <p:nvPr/>
          </p:nvSpPr>
          <p:spPr>
            <a:xfrm>
              <a:off x="3286125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medical_services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Klinisk Kontekst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God ytelse er ikke nok uten klinisk kontekst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0" name="Google Shape;1180;p80"/>
          <p:cNvGrpSpPr/>
          <p:nvPr/>
        </p:nvGrpSpPr>
        <p:grpSpPr>
          <a:xfrm>
            <a:off x="6057900" y="1333500"/>
            <a:ext cx="2571900" cy="2857500"/>
            <a:chOff x="6057900" y="1333500"/>
            <a:chExt cx="2571900" cy="2857500"/>
          </a:xfrm>
        </p:grpSpPr>
        <p:sp>
          <p:nvSpPr>
            <p:cNvPr id="1181" name="Google Shape;1181;p80"/>
            <p:cNvSpPr/>
            <p:nvPr/>
          </p:nvSpPr>
          <p:spPr>
            <a:xfrm>
              <a:off x="6057900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80"/>
            <p:cNvSpPr txBox="1"/>
            <p:nvPr/>
          </p:nvSpPr>
          <p:spPr>
            <a:xfrm>
              <a:off x="6057900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Faglig Ansvar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Kritiske spørsmål er en del av faglig ansvar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81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81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Avslutning</a:t>
            </a:r>
            <a:endParaRPr sz="1100"/>
          </a:p>
        </p:txBody>
      </p:sp>
      <p:sp>
        <p:nvSpPr>
          <p:cNvPr id="1189" name="Google Shape;1189;p81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Tre ting organisasjoner bør ta med seg</a:t>
            </a:r>
            <a:endParaRPr sz="1100"/>
          </a:p>
        </p:txBody>
      </p:sp>
      <p:grpSp>
        <p:nvGrpSpPr>
          <p:cNvPr id="1190" name="Google Shape;1190;p81"/>
          <p:cNvGrpSpPr/>
          <p:nvPr/>
        </p:nvGrpSpPr>
        <p:grpSpPr>
          <a:xfrm>
            <a:off x="514350" y="1333500"/>
            <a:ext cx="2571900" cy="2857500"/>
            <a:chOff x="514350" y="1333500"/>
            <a:chExt cx="2571900" cy="2857500"/>
          </a:xfrm>
        </p:grpSpPr>
        <p:sp>
          <p:nvSpPr>
            <p:cNvPr id="1191" name="Google Shape;1191;p81"/>
            <p:cNvSpPr/>
            <p:nvPr/>
          </p:nvSpPr>
          <p:spPr>
            <a:xfrm>
              <a:off x="514350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81"/>
            <p:cNvSpPr txBox="1"/>
            <p:nvPr/>
          </p:nvSpPr>
          <p:spPr>
            <a:xfrm>
              <a:off x="514350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Mer enn teknologi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Implementering handler om mer enn bare det tekniske systemet.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3" name="Google Shape;1193;p81"/>
          <p:cNvGrpSpPr/>
          <p:nvPr/>
        </p:nvGrpSpPr>
        <p:grpSpPr>
          <a:xfrm>
            <a:off x="3286125" y="1333500"/>
            <a:ext cx="2571900" cy="2857500"/>
            <a:chOff x="3286125" y="1333500"/>
            <a:chExt cx="2571900" cy="2857500"/>
          </a:xfrm>
        </p:grpSpPr>
        <p:sp>
          <p:nvSpPr>
            <p:cNvPr id="1194" name="Google Shape;1194;p81"/>
            <p:cNvSpPr/>
            <p:nvPr/>
          </p:nvSpPr>
          <p:spPr>
            <a:xfrm>
              <a:off x="3286125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81"/>
            <p:cNvSpPr txBox="1"/>
            <p:nvPr/>
          </p:nvSpPr>
          <p:spPr>
            <a:xfrm>
              <a:off x="3286125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Rammer og ansvar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Arbeidsflyt, opplæring og tydelig plassering av ansvar er avgjørende.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6" name="Google Shape;1196;p81"/>
          <p:cNvGrpSpPr/>
          <p:nvPr/>
        </p:nvGrpSpPr>
        <p:grpSpPr>
          <a:xfrm>
            <a:off x="6057900" y="1333500"/>
            <a:ext cx="2571900" cy="2857500"/>
            <a:chOff x="6057900" y="1333500"/>
            <a:chExt cx="2571900" cy="2857500"/>
          </a:xfrm>
        </p:grpSpPr>
        <p:sp>
          <p:nvSpPr>
            <p:cNvPr id="1197" name="Google Shape;1197;p81"/>
            <p:cNvSpPr/>
            <p:nvPr/>
          </p:nvSpPr>
          <p:spPr>
            <a:xfrm>
              <a:off x="6057900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81"/>
            <p:cNvSpPr txBox="1"/>
            <p:nvPr/>
          </p:nvSpPr>
          <p:spPr>
            <a:xfrm>
              <a:off x="6057900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monitor_heart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Kontinuerlig tilsyn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Trygg bruk krever monitorering over tid, ikke bare en vellykket lansering.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82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82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Avslutning</a:t>
            </a:r>
            <a:endParaRPr sz="1100"/>
          </a:p>
        </p:txBody>
      </p:sp>
      <p:sp>
        <p:nvSpPr>
          <p:cNvPr id="1205" name="Google Shape;1205;p82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Hvordan bruke repoet videre etter forelesningen</a:t>
            </a:r>
            <a:endParaRPr sz="1100"/>
          </a:p>
        </p:txBody>
      </p:sp>
      <p:grpSp>
        <p:nvGrpSpPr>
          <p:cNvPr id="1206" name="Google Shape;1206;p82"/>
          <p:cNvGrpSpPr/>
          <p:nvPr/>
        </p:nvGrpSpPr>
        <p:grpSpPr>
          <a:xfrm>
            <a:off x="514350" y="1333500"/>
            <a:ext cx="2571900" cy="2857500"/>
            <a:chOff x="514350" y="1333500"/>
            <a:chExt cx="2571900" cy="2857500"/>
          </a:xfrm>
        </p:grpSpPr>
        <p:sp>
          <p:nvSpPr>
            <p:cNvPr id="1207" name="Google Shape;1207;p82"/>
            <p:cNvSpPr/>
            <p:nvPr/>
          </p:nvSpPr>
          <p:spPr>
            <a:xfrm>
              <a:off x="514350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82"/>
            <p:cNvSpPr txBox="1"/>
            <p:nvPr/>
          </p:nvSpPr>
          <p:spPr>
            <a:xfrm>
              <a:off x="514350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looks_one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Begreper &amp; Oversikt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Start med uke 1 for å få et solid fundament.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9" name="Google Shape;1209;p82"/>
          <p:cNvGrpSpPr/>
          <p:nvPr/>
        </p:nvGrpSpPr>
        <p:grpSpPr>
          <a:xfrm>
            <a:off x="3286125" y="1333500"/>
            <a:ext cx="2571900" cy="2857500"/>
            <a:chOff x="3286125" y="1333500"/>
            <a:chExt cx="2571900" cy="2857500"/>
          </a:xfrm>
        </p:grpSpPr>
        <p:sp>
          <p:nvSpPr>
            <p:cNvPr id="1210" name="Google Shape;1210;p82"/>
            <p:cNvSpPr/>
            <p:nvPr/>
          </p:nvSpPr>
          <p:spPr>
            <a:xfrm>
              <a:off x="3286125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82"/>
            <p:cNvSpPr txBox="1"/>
            <p:nvPr/>
          </p:nvSpPr>
          <p:spPr>
            <a:xfrm>
              <a:off x="3286125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AI &amp; Beslutningsstøtte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Bruk uke 4 for generativ AI og uke 6 for klinisk støtte.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2" name="Google Shape;1212;p82"/>
          <p:cNvSpPr txBox="1"/>
          <p:nvPr/>
        </p:nvSpPr>
        <p:spPr>
          <a:xfrm>
            <a:off x="514350" y="4766310"/>
            <a:ext cx="809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</a:rPr>
              <a:t>                    </a:t>
            </a: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README.md </a:t>
            </a:r>
            <a:r>
              <a:rPr i="1" lang="en" sz="700">
                <a:solidFill>
                  <a:srgbClr val="5D524B"/>
                </a:solidFill>
              </a:rPr>
              <a:t>     </a:t>
            </a: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|      uke04-generativ-ai/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README.md </a:t>
            </a:r>
            <a:r>
              <a:rPr i="1" lang="en" sz="700">
                <a:solidFill>
                  <a:srgbClr val="5D524B"/>
                </a:solidFill>
              </a:rPr>
              <a:t>     </a:t>
            </a: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|      uke06-klinisk-praksis/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README.md </a:t>
            </a:r>
            <a:r>
              <a:rPr i="1" lang="en" sz="700">
                <a:solidFill>
                  <a:srgbClr val="5D524B"/>
                </a:solidFill>
              </a:rPr>
              <a:t>     </a:t>
            </a: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|      uke08-etikk-implementering/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README.md</a:t>
            </a:r>
            <a:endParaRPr sz="1100"/>
          </a:p>
        </p:txBody>
      </p:sp>
      <p:grpSp>
        <p:nvGrpSpPr>
          <p:cNvPr id="1213" name="Google Shape;1213;p82"/>
          <p:cNvGrpSpPr/>
          <p:nvPr/>
        </p:nvGrpSpPr>
        <p:grpSpPr>
          <a:xfrm>
            <a:off x="6057900" y="1333500"/>
            <a:ext cx="2571900" cy="2857500"/>
            <a:chOff x="6057900" y="1333500"/>
            <a:chExt cx="2571900" cy="2857500"/>
          </a:xfrm>
        </p:grpSpPr>
        <p:sp>
          <p:nvSpPr>
            <p:cNvPr id="1214" name="Google Shape;1214;p82"/>
            <p:cNvSpPr/>
            <p:nvPr/>
          </p:nvSpPr>
          <p:spPr>
            <a:xfrm>
              <a:off x="6057900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82"/>
            <p:cNvSpPr txBox="1"/>
            <p:nvPr/>
          </p:nvSpPr>
          <p:spPr>
            <a:xfrm>
              <a:off x="6057900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Etikk &amp; Regler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Bruk uke 8 for arbeid med etikk og trustworthy AI.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83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83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Avslutning</a:t>
            </a:r>
            <a:endParaRPr sz="1100"/>
          </a:p>
        </p:txBody>
      </p:sp>
      <p:sp>
        <p:nvSpPr>
          <p:cNvPr id="1222" name="Google Shape;1222;p83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Spørsmål til diskusjon</a:t>
            </a:r>
            <a:endParaRPr sz="1100"/>
          </a:p>
        </p:txBody>
      </p:sp>
      <p:grpSp>
        <p:nvGrpSpPr>
          <p:cNvPr id="1223" name="Google Shape;1223;p83"/>
          <p:cNvGrpSpPr/>
          <p:nvPr/>
        </p:nvGrpSpPr>
        <p:grpSpPr>
          <a:xfrm>
            <a:off x="514350" y="1333500"/>
            <a:ext cx="2571900" cy="2857500"/>
            <a:chOff x="514350" y="1333500"/>
            <a:chExt cx="2571900" cy="2857500"/>
          </a:xfrm>
        </p:grpSpPr>
        <p:sp>
          <p:nvSpPr>
            <p:cNvPr id="1224" name="Google Shape;1224;p83"/>
            <p:cNvSpPr/>
            <p:nvPr/>
          </p:nvSpPr>
          <p:spPr>
            <a:xfrm>
              <a:off x="514350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83"/>
            <p:cNvSpPr txBox="1"/>
            <p:nvPr/>
          </p:nvSpPr>
          <p:spPr>
            <a:xfrm>
              <a:off x="514350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Nytte i praksis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Hvor ser dere størst nytte i egen praksis?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6" name="Google Shape;1226;p83"/>
          <p:cNvGrpSpPr/>
          <p:nvPr/>
        </p:nvGrpSpPr>
        <p:grpSpPr>
          <a:xfrm>
            <a:off x="3286125" y="1333500"/>
            <a:ext cx="2571900" cy="2857500"/>
            <a:chOff x="3286125" y="1333500"/>
            <a:chExt cx="2571900" cy="2857500"/>
          </a:xfrm>
        </p:grpSpPr>
        <p:sp>
          <p:nvSpPr>
            <p:cNvPr id="1227" name="Google Shape;1227;p83"/>
            <p:cNvSpPr/>
            <p:nvPr/>
          </p:nvSpPr>
          <p:spPr>
            <a:xfrm>
              <a:off x="3286125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83"/>
            <p:cNvSpPr txBox="1"/>
            <p:nvPr/>
          </p:nvSpPr>
          <p:spPr>
            <a:xfrm>
              <a:off x="3286125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Størst risiko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Hvor ser dere størst risiko?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9" name="Google Shape;1229;p83"/>
          <p:cNvGrpSpPr/>
          <p:nvPr/>
        </p:nvGrpSpPr>
        <p:grpSpPr>
          <a:xfrm>
            <a:off x="6057900" y="1333500"/>
            <a:ext cx="2571900" cy="2857500"/>
            <a:chOff x="6057900" y="1333500"/>
            <a:chExt cx="2571900" cy="2857500"/>
          </a:xfrm>
        </p:grpSpPr>
        <p:sp>
          <p:nvSpPr>
            <p:cNvPr id="1230" name="Google Shape;1230;p83"/>
            <p:cNvSpPr/>
            <p:nvPr/>
          </p:nvSpPr>
          <p:spPr>
            <a:xfrm>
              <a:off x="6057900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83"/>
            <p:cNvSpPr txBox="1"/>
            <p:nvPr/>
          </p:nvSpPr>
          <p:spPr>
            <a:xfrm>
              <a:off x="6057900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Tillit til AI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Hva ville dere krevd å få vite før dere stolte på et AI-system?</a:t>
              </a:r>
              <a:endParaRPr sz="12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84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84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Avslutning</a:t>
            </a:r>
            <a:endParaRPr sz="1100"/>
          </a:p>
        </p:txBody>
      </p:sp>
      <p:sp>
        <p:nvSpPr>
          <p:cNvPr id="1238" name="Google Shape;1238;p84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Mulige neste steg etter forelesningen</a:t>
            </a:r>
            <a:endParaRPr sz="1100"/>
          </a:p>
        </p:txBody>
      </p:sp>
      <p:grpSp>
        <p:nvGrpSpPr>
          <p:cNvPr id="1239" name="Google Shape;1239;p84"/>
          <p:cNvGrpSpPr/>
          <p:nvPr/>
        </p:nvGrpSpPr>
        <p:grpSpPr>
          <a:xfrm>
            <a:off x="514350" y="1333500"/>
            <a:ext cx="2571900" cy="2857500"/>
            <a:chOff x="514350" y="1333500"/>
            <a:chExt cx="2571900" cy="2857500"/>
          </a:xfrm>
        </p:grpSpPr>
        <p:sp>
          <p:nvSpPr>
            <p:cNvPr id="1240" name="Google Shape;1240;p84"/>
            <p:cNvSpPr/>
            <p:nvPr/>
          </p:nvSpPr>
          <p:spPr>
            <a:xfrm>
              <a:off x="514350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84"/>
            <p:cNvSpPr txBox="1"/>
            <p:nvPr/>
          </p:nvSpPr>
          <p:spPr>
            <a:xfrm>
              <a:off x="514350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Utforsk Notebooks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Velg én notebook og utforsk den i Google Colab for praktisk erfaring.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2" name="Google Shape;1242;p84"/>
          <p:cNvGrpSpPr/>
          <p:nvPr/>
        </p:nvGrpSpPr>
        <p:grpSpPr>
          <a:xfrm>
            <a:off x="3286125" y="1333500"/>
            <a:ext cx="2571900" cy="2857500"/>
            <a:chOff x="3286125" y="1333500"/>
            <a:chExt cx="2571900" cy="2857500"/>
          </a:xfrm>
        </p:grpSpPr>
        <p:sp>
          <p:nvSpPr>
            <p:cNvPr id="1243" name="Google Shape;1243;p84"/>
            <p:cNvSpPr/>
            <p:nvPr/>
          </p:nvSpPr>
          <p:spPr>
            <a:xfrm>
              <a:off x="3286125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84"/>
            <p:cNvSpPr txBox="1"/>
            <p:nvPr/>
          </p:nvSpPr>
          <p:spPr>
            <a:xfrm>
              <a:off x="3286125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Klinisk Case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Diskuter et konkret klinisk AI-case i eget fagmiljø for dypere innsikt.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5" name="Google Shape;1245;p84"/>
          <p:cNvSpPr txBox="1"/>
          <p:nvPr/>
        </p:nvSpPr>
        <p:spPr>
          <a:xfrm>
            <a:off x="2324663" y="4781100"/>
            <a:ext cx="4852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docs/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index.html </a:t>
            </a:r>
            <a:r>
              <a:rPr i="1" lang="en" sz="700">
                <a:solidFill>
                  <a:srgbClr val="5D524B"/>
                </a:solidFill>
              </a:rPr>
              <a:t>     </a:t>
            </a: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|      docs/f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or-undervisere.html</a:t>
            </a: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      |      docs/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ressurser.html</a:t>
            </a:r>
            <a:endParaRPr sz="1100"/>
          </a:p>
        </p:txBody>
      </p:sp>
      <p:grpSp>
        <p:nvGrpSpPr>
          <p:cNvPr id="1246" name="Google Shape;1246;p84"/>
          <p:cNvGrpSpPr/>
          <p:nvPr/>
        </p:nvGrpSpPr>
        <p:grpSpPr>
          <a:xfrm>
            <a:off x="6057900" y="1333500"/>
            <a:ext cx="2571900" cy="2857500"/>
            <a:chOff x="6057900" y="1333500"/>
            <a:chExt cx="2571900" cy="2857500"/>
          </a:xfrm>
        </p:grpSpPr>
        <p:sp>
          <p:nvSpPr>
            <p:cNvPr id="1247" name="Google Shape;1247;p84"/>
            <p:cNvSpPr/>
            <p:nvPr/>
          </p:nvSpPr>
          <p:spPr>
            <a:xfrm>
              <a:off x="6057900" y="1333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84"/>
            <p:cNvSpPr txBox="1"/>
            <p:nvPr/>
          </p:nvSpPr>
          <p:spPr>
            <a:xfrm>
              <a:off x="6057900" y="1333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playlist_add_check</a:t>
              </a:r>
              <a:endParaRPr sz="3600">
                <a:solidFill>
                  <a:srgbClr val="7D3C9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rPr>
                <a:t>Bruk Sjekklister</a:t>
              </a:r>
              <a:endParaRPr b="1" sz="16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rPr>
                <a:t>Anvend kursets sjekklister når nye AI-verktøy vurderes lokalt.</a:t>
              </a:r>
              <a:endParaRPr sz="11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EF"/>
        </a:solid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85"/>
          <p:cNvSpPr/>
          <p:nvPr/>
        </p:nvSpPr>
        <p:spPr>
          <a:xfrm>
            <a:off x="0" y="0"/>
            <a:ext cx="9143700" cy="219600"/>
          </a:xfrm>
          <a:prstGeom prst="rect">
            <a:avLst/>
          </a:prstGeom>
          <a:solidFill>
            <a:srgbClr val="7D3C9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85"/>
          <p:cNvSpPr txBox="1"/>
          <p:nvPr/>
        </p:nvSpPr>
        <p:spPr>
          <a:xfrm>
            <a:off x="514350" y="377190"/>
            <a:ext cx="308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B2C6F"/>
                </a:solidFill>
                <a:latin typeface="Arial"/>
                <a:ea typeface="Arial"/>
                <a:cs typeface="Arial"/>
                <a:sym typeface="Arial"/>
              </a:rPr>
              <a:t>Avslutning</a:t>
            </a:r>
            <a:endParaRPr sz="1100"/>
          </a:p>
        </p:txBody>
      </p:sp>
      <p:sp>
        <p:nvSpPr>
          <p:cNvPr id="1255" name="Google Shape;1255;p85"/>
          <p:cNvSpPr txBox="1"/>
          <p:nvPr/>
        </p:nvSpPr>
        <p:spPr>
          <a:xfrm>
            <a:off x="514350" y="651510"/>
            <a:ext cx="795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A17"/>
                </a:solidFill>
                <a:latin typeface="Play"/>
                <a:ea typeface="Play"/>
                <a:cs typeface="Play"/>
                <a:sym typeface="Play"/>
              </a:rPr>
              <a:t>Takk for oppmerksomheten</a:t>
            </a:r>
            <a:endParaRPr sz="1100"/>
          </a:p>
        </p:txBody>
      </p:sp>
      <p:grpSp>
        <p:nvGrpSpPr>
          <p:cNvPr id="1256" name="Google Shape;1256;p85"/>
          <p:cNvGrpSpPr/>
          <p:nvPr/>
        </p:nvGrpSpPr>
        <p:grpSpPr>
          <a:xfrm>
            <a:off x="514350" y="1333500"/>
            <a:ext cx="8115450" cy="2857500"/>
            <a:chOff x="514350" y="1333500"/>
            <a:chExt cx="8115450" cy="2857500"/>
          </a:xfrm>
        </p:grpSpPr>
        <p:grpSp>
          <p:nvGrpSpPr>
            <p:cNvPr id="1257" name="Google Shape;1257;p85"/>
            <p:cNvGrpSpPr/>
            <p:nvPr/>
          </p:nvGrpSpPr>
          <p:grpSpPr>
            <a:xfrm>
              <a:off x="514350" y="1333500"/>
              <a:ext cx="2571900" cy="2857500"/>
              <a:chOff x="514350" y="1333500"/>
              <a:chExt cx="2571900" cy="2857500"/>
            </a:xfrm>
          </p:grpSpPr>
          <p:sp>
            <p:nvSpPr>
              <p:cNvPr id="1258" name="Google Shape;1258;p85"/>
              <p:cNvSpPr/>
              <p:nvPr/>
            </p:nvSpPr>
            <p:spPr>
              <a:xfrm>
                <a:off x="514350" y="1333500"/>
                <a:ext cx="2571900" cy="2857500"/>
              </a:xfrm>
              <a:prstGeom prst="roundRect">
                <a:avLst>
                  <a:gd fmla="val 444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85"/>
              <p:cNvSpPr txBox="1"/>
              <p:nvPr/>
            </p:nvSpPr>
            <p:spPr>
              <a:xfrm>
                <a:off x="514350" y="1333500"/>
                <a:ext cx="25719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6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auto_awesome</a:t>
                </a:r>
                <a:endParaRPr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Mer enn bare å imponere</a:t>
                </a:r>
                <a:endParaRPr b="1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AI i helse bør ikke bare handle om den tekniske wow-faktoren.</a:t>
                </a:r>
                <a:endParaRPr b="0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0" name="Google Shape;1260;p85"/>
            <p:cNvGrpSpPr/>
            <p:nvPr/>
          </p:nvGrpSpPr>
          <p:grpSpPr>
            <a:xfrm>
              <a:off x="3286125" y="1333500"/>
              <a:ext cx="2571900" cy="2857500"/>
              <a:chOff x="3286125" y="1333500"/>
              <a:chExt cx="2571900" cy="2857500"/>
            </a:xfrm>
          </p:grpSpPr>
          <p:sp>
            <p:nvSpPr>
              <p:cNvPr id="1261" name="Google Shape;1261;p85"/>
              <p:cNvSpPr/>
              <p:nvPr/>
            </p:nvSpPr>
            <p:spPr>
              <a:xfrm>
                <a:off x="3286125" y="1333500"/>
                <a:ext cx="2571900" cy="2857500"/>
              </a:xfrm>
              <a:prstGeom prst="roundRect">
                <a:avLst>
                  <a:gd fmla="val 444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85"/>
              <p:cNvSpPr txBox="1"/>
              <p:nvPr/>
            </p:nvSpPr>
            <p:spPr>
              <a:xfrm>
                <a:off x="3286125" y="1333500"/>
                <a:ext cx="25719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6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verified_user</a:t>
                </a:r>
                <a:endParaRPr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Ansvarlig bruk</a:t>
                </a:r>
                <a:endParaRPr b="1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Systemet må forstås, vurderes og brukes på en forsvarlig måte.</a:t>
                </a:r>
                <a:endParaRPr b="0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3" name="Google Shape;1263;p85"/>
            <p:cNvGrpSpPr/>
            <p:nvPr/>
          </p:nvGrpSpPr>
          <p:grpSpPr>
            <a:xfrm>
              <a:off x="6057900" y="1333500"/>
              <a:ext cx="2571900" cy="2857500"/>
              <a:chOff x="6057900" y="1333500"/>
              <a:chExt cx="2571900" cy="2857500"/>
            </a:xfrm>
          </p:grpSpPr>
          <p:sp>
            <p:nvSpPr>
              <p:cNvPr id="1264" name="Google Shape;1264;p85"/>
              <p:cNvSpPr/>
              <p:nvPr/>
            </p:nvSpPr>
            <p:spPr>
              <a:xfrm>
                <a:off x="6057900" y="1333500"/>
                <a:ext cx="2571900" cy="2857500"/>
              </a:xfrm>
              <a:prstGeom prst="roundRect">
                <a:avLst>
                  <a:gd fmla="val 444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D8C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85"/>
              <p:cNvSpPr txBox="1"/>
              <p:nvPr/>
            </p:nvSpPr>
            <p:spPr>
              <a:xfrm>
                <a:off x="6057900" y="1333500"/>
                <a:ext cx="25719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600">
                    <a:solidFill>
                      <a:srgbClr val="7D3C9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medical_services</a:t>
                </a:r>
                <a:endParaRPr sz="3600">
                  <a:solidFill>
                    <a:srgbClr val="7D3C9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1F1A17"/>
                    </a:solidFill>
                    <a:latin typeface="Play"/>
                    <a:ea typeface="Play"/>
                    <a:cs typeface="Play"/>
                    <a:sym typeface="Play"/>
                  </a:rPr>
                  <a:t>Klinisk fundament</a:t>
                </a:r>
                <a:endParaRPr b="1" sz="1600">
                  <a:solidFill>
                    <a:srgbClr val="1F1A17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5D524B"/>
                    </a:solidFill>
                    <a:latin typeface="Arial"/>
                    <a:ea typeface="Arial"/>
                    <a:cs typeface="Arial"/>
                    <a:sym typeface="Arial"/>
                  </a:rPr>
                  <a:t>Dette er et klinisk faglig arbeid, ikke kun et IT-prosjekt.</a:t>
                </a:r>
                <a:endParaRPr b="0" sz="1200">
                  <a:solidFill>
                    <a:srgbClr val="5D524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66" name="Google Shape;1266;p85"/>
          <p:cNvSpPr txBox="1"/>
          <p:nvPr/>
        </p:nvSpPr>
        <p:spPr>
          <a:xfrm>
            <a:off x="2088850" y="4758900"/>
            <a:ext cx="4741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Referanser i repoet: 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https://arvidl.github.io/AI-og-helse </a:t>
            </a:r>
            <a:r>
              <a:rPr i="1" lang="en" sz="700">
                <a:solidFill>
                  <a:srgbClr val="5D524B"/>
                </a:solidFill>
                <a:latin typeface="Arial"/>
                <a:ea typeface="Arial"/>
                <a:cs typeface="Arial"/>
                <a:sym typeface="Arial"/>
              </a:rPr>
              <a:t>          |           </a:t>
            </a:r>
            <a:r>
              <a:rPr i="1" lang="en" sz="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https://github.com/arvidl/AI-og-helse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