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80" y="777240"/>
            <a:ext cx="406908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5B2C6F"/>
                </a:solidFill>
                <a:latin typeface="Aptos"/>
              </a:rPr>
              <a:t>◎   ◇   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6035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  <a:latin typeface="Aptos Display"/>
              </a:rPr>
              <a:t>AI i helse: hva er nyttig, hva er hype, og hva må vi forstå?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633590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solidFill>
                  <a:srgbClr val="5D524B"/>
                </a:solidFill>
                <a:latin typeface="Aptos"/>
              </a:rPr>
              <a:t>To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forelesningsøkter</a:t>
            </a:r>
            <a:r>
              <a:rPr sz="2000" dirty="0">
                <a:solidFill>
                  <a:srgbClr val="5D524B"/>
                </a:solidFill>
                <a:latin typeface="Aptos"/>
              </a:rPr>
              <a:t> à 45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minutter</a:t>
            </a:r>
            <a:r>
              <a:rPr sz="2000" dirty="0">
                <a:solidFill>
                  <a:srgbClr val="5D524B"/>
                </a:solidFill>
                <a:latin typeface="Aptos"/>
              </a:rPr>
              <a:t> for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klinisk</a:t>
            </a:r>
            <a:r>
              <a:rPr sz="2000" dirty="0">
                <a:solidFill>
                  <a:srgbClr val="5D524B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målgruppe</a:t>
            </a:r>
            <a:r>
              <a:rPr sz="2000" dirty="0">
                <a:solidFill>
                  <a:srgbClr val="5D524B"/>
                </a:solidFill>
                <a:latin typeface="Aptos"/>
              </a:rPr>
              <a:t> </a:t>
            </a:r>
            <a:endParaRPr lang="nb-NO" sz="2000" dirty="0">
              <a:solidFill>
                <a:srgbClr val="5D524B"/>
              </a:solidFill>
              <a:latin typeface="Aptos"/>
            </a:endParaRPr>
          </a:p>
          <a:p>
            <a:r>
              <a:rPr sz="2000" dirty="0">
                <a:solidFill>
                  <a:srgbClr val="5D524B"/>
                </a:solidFill>
                <a:latin typeface="Aptos"/>
              </a:rPr>
              <a:t>med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liten</a:t>
            </a:r>
            <a:r>
              <a:rPr sz="2000" dirty="0">
                <a:solidFill>
                  <a:srgbClr val="5D524B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eller</a:t>
            </a:r>
            <a:r>
              <a:rPr sz="2000" dirty="0">
                <a:solidFill>
                  <a:srgbClr val="5D524B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moderat</a:t>
            </a:r>
            <a:r>
              <a:rPr sz="2000" dirty="0">
                <a:solidFill>
                  <a:srgbClr val="5D524B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teknisk</a:t>
            </a:r>
            <a:r>
              <a:rPr sz="2000" dirty="0">
                <a:solidFill>
                  <a:srgbClr val="5D524B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5D524B"/>
                </a:solidFill>
                <a:latin typeface="Aptos"/>
              </a:rPr>
              <a:t>bakgrunn</a:t>
            </a:r>
            <a:r>
              <a:rPr sz="2000" dirty="0">
                <a:solidFill>
                  <a:srgbClr val="5D524B"/>
                </a:solidFill>
                <a:latin typeface="Apto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B2C6F"/>
                </a:solidFill>
                <a:latin typeface="Aptos"/>
              </a:rPr>
              <a:t>Basert på AI og Helse-repoet og tilhørende notebooks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2880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1A17"/>
                </a:solidFill>
                <a:latin typeface="Aptos"/>
              </a:rPr>
              <a:t>Målgruppe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>Leger, sykepleiere, psykologer, fysioterapeuter, radiografer, bioingeniører</a:t>
            </a:r>
          </a:p>
          <a:p>
            <a:endParaRPr sz="1300" b="0">
              <a:solidFill>
                <a:srgbClr val="5D524B"/>
              </a:solidFill>
              <a:latin typeface="Aptos"/>
            </a:endParaRPr>
          </a:p>
          <a:p>
            <a:r>
              <a:rPr sz="1500" b="1">
                <a:solidFill>
                  <a:srgbClr val="1F1A17"/>
                </a:solidFill>
                <a:latin typeface="Aptos"/>
              </a:rPr>
              <a:t>Format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>2 x 45 minutter</a:t>
            </a:r>
          </a:p>
          <a:p>
            <a:endParaRPr sz="1300" b="0">
              <a:solidFill>
                <a:srgbClr val="5D524B"/>
              </a:solidFill>
              <a:latin typeface="Aptos"/>
            </a:endParaRPr>
          </a:p>
          <a:p>
            <a:r>
              <a:rPr sz="1500" b="1">
                <a:solidFill>
                  <a:srgbClr val="1F1A17"/>
                </a:solidFill>
                <a:latin typeface="Aptos"/>
              </a:rPr>
              <a:t>Utgangspunkt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>Kurset AI og Helse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Hvem denne forelesningen er for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Leger, sykepleiere, psykologer, fysioterapeuter, radiografer og bioingeniører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Andre som jobber klinisk eller tett på helsefaglige arbeidsprosesser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Personer som vil forstå AI uten å måtte gå dypt inn i matematikk eller programmering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 | docs/om-kurset.html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dere skal sitte igjen med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Et språk for å snakke om AI i helse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forståelse av hva AI er god og mindre god til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Noen konkrete spørsmål å stille før man tar AI i bruk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bedre forståelse av risiko, ansvar og klinisk nytte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AI i helse er et viktig tema nå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Data, bilder, signaler og tekst finnes i stor skala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Arbeidshverdagen er presset og kompleks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Mange AI-verktøy lover effektivitet og bedre beslutninger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 helsefeltet tåler dårlig feil og falsk trygghet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AI i helse er vanskeligere enn i mange andre felt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Pasientsikkerhet og ansvar står sentralt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Kontekst betyr mye mer enn i mange generelle AI-demoer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Skjevheter og generalisering er klinisk viktige spørsmål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Arbeidsflyt og implementering avgjør om noe faktisk fungerer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Et raskt startspørsmål til salen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brukt ChatGPT eller lignende verktøy?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møtt AI i journalsystemer, bildeanalyse eller beslutningsstøtte?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er nysgjerrig, men usikker på hva som faktisk er nyttig?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mener vi egentlig med AI?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er et samlebegrep, ikke én enkelt teknologi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kan brukes til å klassifisere, predikere, anbefale eller generere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helse er det viktig å skille mellom teknologitype og faktisk bruksområde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uke01-introduksjon/02-hva-er-ai.ipynb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Fra regler til læring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Tidlige systemer bygget på eksplisitte regler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Moderne systemer lærer mønstre fra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Dette gir mer fleksibilitet, men også mindre gjennomsiktighet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uke01-introduksjon/05-regelbaserte-systemer.ipynb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Tre hovedfamilier vi møter i kurset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Klassisk maskinlæring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Dyplæring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Generativ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uke01-introduksjon/04-ai-ml-dl-forskjeller.ipynb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Klassisk maskinlæring, veldig kort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Modeller finner mønstre i strukturerte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Brukes ofte til prediksjon og klassifikasjon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Relevante spørsmål er hvilke data som brukes, hva som måles og hvilke feil som betyr mest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uke02-klassisk-ml/01-klassisk-ml-101.ipynb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Dyplæring, veldig kort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Særlig nyttig når data er komplekse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Typiske eksempler er bilder, signaler og tekst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Mer kraftfullt, men ofte vanskeligere å forklare og kontrollere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uke03-dyplæring/01a_nn_intro.ipynb | uke03-dyplæring/02a_cnn_bildeklassifikasjon.ipynb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Generativ AI, veldig kort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Lager tekst, oppsummeringer, forslag eller multimodalt innhold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Kan være nyttig i dokumentasjon, dialog og kunnskapsstøtte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 kan også hallusinere og virke mer sikker enn den burde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uke04-generativ-ai/02_llm_grunnleggende.ipynb | uke04-generativ-ai/03_prompt_engineering.ipynb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helse er interessant for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Mange mønstre er vanskelige å se uten 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Kliniske beslutninger er ofte probabilistiske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Bilder, signaler og tekst spiller en stor rolle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Små forbedringer kan ha stor verdi i praksis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helse også er risikofylt for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Kontekst betyr mye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 er ofte skjeve, mangelfulle eller lokale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Feil kan skade pasienter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Tillit og ansvar kan ikke automatiseres bort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1: bildeanalyse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Radiologi, patologi og dermatologi bygger alle på mønstergjenkjenning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kan være sterk på å oppdage signaler i bilder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 avgjørende spørsmålet er hvordan dette brukes i klinisk arbeid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uke03-dyplæring/03_medisinsk_bildeklassifikasjon_MR.ipynb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2: risikomodeller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økt risiko?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bør følges opp tettere?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Når blir en prediksjon faktisk nyttig for klinisk beslutningsstøtte?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uke06-klinisk-praksis/01_risikomodell_logistisk_regresjon_kalibrering_shap.ipynb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3: språk og dokumentasjon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Oppsummering av tekst og strukturering av informasjon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Forslag til formuleringer og støtte i administrativt arbeid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Lavere terskel enn mange andre AI-bruksområder, men fortsatt ikke risikofritt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uke04-generativ-ai/04_chatgpt_claude_api.ipynb | intro_openai_anthropic.ipynb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4: velferdsteknologi og sensorer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Tolkning av aktivitet og avvik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Varsling og prioritering i hjem og omsorg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Teknologi som virker tett på hverdagsliv og omsorgspraksis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uke07-velferdsteknologi/02_sensorer_aktivitet_og_hendelsesforståelse.ipynb | uke07-velferdsteknologi/03_beslutningsstøtte_i_hjem_og_omsorg.ipynb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5: generativ AI som støtte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Utkast til tekst og oppsummering av informasjon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Strukturering av faglig innhold og spørsmål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Kan være nyttig som støtte, men ikke som automatisk fasit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Temaene i repoet, som kurskart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Begreper, historikk og hva AI faktisk er i helsefaglig sammenheng.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uke01-introduksjon/02-hva-er-ai.ipynb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168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Klassisk maskinlæring, prediksjon og grunnleggende evaluering.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uke02-klassisk-ml/01-klassisk-ml-101.ipynb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3640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Dyplæring, bilder, signaler og forklarbarhet.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uke03-dyplæring/03_medisinsk_bildeklassifikasjon_MR.ipynb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4-5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Generativ AI, språkmodeller, prompt engineering og agentisk AI.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uke04-generativ-ai/02_llm_grunnleggende.ipynb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6168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Klinisk praksis, risikomodeller og beslutningsstøtte.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uke06-klinisk-praksis/01_risikomodell_logistisk_regresjon_kalibrering_shap.ipynb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3640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7-8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640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Velferdsteknologi, etikk, regulering og trustworthy AI.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640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uke08-etikk-implementering/05_trustworthy_ai_i_helse.ipynb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Visuelt case: AI i radiologi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7899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56231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Tenk deg en radiologisk arbeidsflyt der et AI-system markerer mistenkelige funn før klinikeren leser bildet.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Mulig verdi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bidra til raskere sortering og prioritering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være ekstra nyttig i store volumer og ved belastet arbeidsflyt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fungere som et ekstra blikk, ikke nødvendigvis en erstatning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Viktige spørsmål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Hvordan er systemet validert og i hvilken setting?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Hvilke typer feil gjør det oftest?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Hvordan påvirker det klinikerens oppmerksomhet og beslutning?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uke03-dyplæring/03_medisinsk_bildeklassifikasjon_MR.ipynb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AI ofte er god på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Mønstergjenkjenning i store datamengder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Skalerbarhet og repetitive oppgaver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Forslag, sortering og raske førsteutkast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AI ofte er dårlig på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Dyp klinisk kontekstforståelse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Å vite hva som ikke er representert i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Å forstå ansvar, konsekvenser og etiske avveininger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Å være pålitelig i nye situasjoner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klinikere bør spørre om først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Hvilket problem er dette ment å løse?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er input og hva er output?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påvirkes hvis systemet tar feil?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skjer i praksis hvis vi følger anbefalingen?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Mini-case 1: høy risiko for sepsis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Et AI-system markerer høy risiko for sepsis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vil du vite om datagrunnlaget?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vil du vite om feilmarginer og terskler?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Hvordan bør dette brukes i klinisk arbeidsflyt?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Fra fascinasjon til vurdering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Ikke spør bare om systemet fungerer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Spør for hvem det fungerer, i hvilken setting og med hvilke konsekvenser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Spør hva som er baseline, og hva som faktisk blir bedre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Oppsummering av del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er ikke én ting, men flere familier av verktøy og modeller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Helse er et felt med både store muligheter og høy risiko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Klinisk nytte avhenger av kontekst, ikke bare teknologi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68680" y="1097280"/>
            <a:ext cx="104241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68680" y="1097280"/>
            <a:ext cx="201168" cy="438912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1A17"/>
                </a:solidFill>
                <a:latin typeface="Aptos Display"/>
              </a:rPr>
              <a:t>Del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8595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D524B"/>
                </a:solidFill>
                <a:latin typeface="Aptos"/>
              </a:rPr>
              <a:t>Fra teknologi til trygg, nyttig og ansvarlig bruk i praksis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betyr det at en modell virker?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Høy ytelse i et datasett er ikke nok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Vi må spørre om klinisk nytte, robusthet og praktisk bruk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God teknologi kan fortsatt være dårlig implementert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Nøyaktighet er ikke hele historien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Sensitivitet og spesifisitet sier ulike ting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Falske positive og falske negative har ulike kliniske kostnader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Terskler og konsekvenser må forstås før verktøy tas i bruk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uke06-klinisk-praksis/02_klinisk_beslutningsstøtte_terskler_og_avveininger.ipynb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Kalibrering på klinisk språk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Hvis modellen sier 10 prosent risiko, stemmer det omtrent?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Kalibrering er viktig når tall skal brukes i beslutningsstøtte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Dårlig kalibrering kan gi falsk trygghet eller unødig alarm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uke06-klinisk-praksis/01_risikomodell_logistisk_regresjon_kalibrering_shap.ipynb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generalisering er vanskelig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modell kan fungere godt ett sted og dårlig et annet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Pasientgrupper, utstyr og praksis kan være ulike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 i drift ligner ikke alltid data i utvikling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uke06-klinisk-praksis/03_validering_generalisering_og_subgrupper.ipynb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Distribusjonsskifte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Pasientpopulasjoner endrer seg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Arbeidsflyt og rutiner endrer seg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 endrer karakter over tid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Modeller må derfor monitoreres, ikke bare lanseres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Subgrupper og rettferdighet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Samme modell kan ha ulik ytelse for ulike grupper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Dette er både et faglig og et etisk spørsmål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Lik gjennomsnittsytelse er ikke det samme som rettferdig ytelse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uke08-etikk-implementering/02_bias_rettferdighet.ipynb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 kan bias oppstå?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hvem som er med i datasettet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hvordan data måles og merkes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hvordan modellen utvikles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hvordan resultatene brukes og tolkes i praksis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Forklarbarhet: nyttig, men ikke magisk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Forklaringer kan hjelpe oss å se hva modellen reagerer på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 forklaringer beviser ikke at modellen er klinisk riktig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Forklarbarhet må brukes kritisk, ikke ritualistisk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uke03-dyplæring/02c_cnn_testing.ipynb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Human-in-the-loop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bør vanligvis støtte, ikke erstatte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Klinikerens vurdering forsvinner ikke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 avgjørende er hvordan menneske og system samspiller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Arbeidsflyt er en del av kvaliteten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god modell som ikke passer i praksis har liten verdi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Dårlig integrasjon kan skape friksjon og nye feil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Implementering er et klinisk og organisatorisk spørsmål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uke06-klinisk-praksis/04_fra_modell_til_klinisk_arbeidsflyt.ipynb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skjer hvis modellen er feil?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merker det?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stopper det?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raskt oppdages problemet?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myndighet til å korrigere eller slå av systemet?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Personvern og helseopplysninger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Helseopplysninger krever særlig aktsomhet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Dataminimering, tilgangskontroll og informasjonsplikt betyr noe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Tillit er en del av implementeringen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uke08-etikk-implementering/01_gdpr_personvern.ipynb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Etikk i praksis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Autonomi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Velgjørenhet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Ikke-skade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Rettferdighet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uke08-etikk-implementering/04_ai_etikk_i_medisinen.ipynb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Regulering i grove trekk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Noe AI i helse kan være medisinsk utstyr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 følger dokumentasjon, vurdering og ansvar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Regulering er ikke bare byråkrati, men en del av sikkerheten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uke08-etikk-implementering/03_ce_mdr_regulering.ipynb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betyr trustworthy AI i helse?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Robusthet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Transparens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Menneskelig kontroll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Validering og monitorering over tid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uke08-etikk-implementering/05_trustworthy_ai_i_helse.ipynb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Generativ AI i klinikken: egne utfordringer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Hallusinasjoner og overbevisende språk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Uklare kilder og usikker sporbarhet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Vanskelig å vite når modellen gjetter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Stor risiko for ukritisk overtakelse av formuleringer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uke04-generativ-ai/02_llm_grunnleggende.ipynb | uke04-generativ-ai/04_chatgpt_claude_api.ipynb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bør man ikke outsource blindt?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Diagnostiske konklusjoner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Høyrisikobeslutninger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Følsom pasientkommunikasjon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Ansvaret for klinisk skjønn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 i repoet finner dere temaene vi har snakket om?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Risiko og kalibrering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Hvordan prediksjon blir til klinisk vurdering og terskelvalg.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uke06-klinisk-praksis/02_klinisk_beslutningsstøtte_terskler_og_avveininger.ipynb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168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Generalisering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Hvorfor modeller feiler når data og kontekst endrer seg.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uke06-klinisk-praksis/03_validering_generalisering_og_subgrupper.ipynb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3640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Bias og rettferdighet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Hvordan skjevhet kan oppstå og hvorfor det betyr noe klinisk.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uke08-etikk-implementering/02_bias_rettferdighet.ipynb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Personvern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GDPR og praktiske vurderinger ved helseopplysninger.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uke08-etikk-implementering/01_gdpr_personvern.ipynb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6168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Regulering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CE, MDR og ansvar ved innføring av medisinsk 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uke08-etikk-implementering/03_ce_mdr_regulering.ipynb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3640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Trustworthy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640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Robusthet, monitorering og trygg innføring i praksis.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640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uke08-etikk-implementering/05_trustworthy_ai_i_helse.ipynb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 | uke08-etikk-implementering/README.md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kan være lavere risiko og likevel nyttig?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Strukturering av tekst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Oppsummering av informasjon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Administrative støtteoppgaver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Utkast som alltid kontrolleres av fagperson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Visuelt case: generativ AI i dokumentasjon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7899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56231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Tenk deg at et system lager utkast til epikrise, pasientbrev eller journalsammendrag basert på eksisterende tekst og struktur.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Mulige gevinster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Sparer tid i formulering og strukturering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gjøre dokumentasjon mer konsistent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være nyttig som førsteutkast i lavere risiko-oppgaver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Hva må kontrolleres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At innholdet faktisk stemmer med pasientforløpet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At det ikke introduseres feil, hallusinasjoner eller tvetydighet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At kliniker fortsatt har ansvar for språk, innhold og konsekvenser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uke04-generativ-ai/04_chatgpt_claude_api.ipynb | intro_openai_anthropic.ipynb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Praktisk sjekkliste før innføring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Hvilket problem skal løses?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Finnes det en god baseline uten AI?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Er data gode nok og relevant validering gjort?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ansvar hvis noe går galt?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Praktisk sjekkliste under bruk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Følger vi med på avvik?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Forstår brukerne begrensningene?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Har vi tydelig rollefordeling?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Vet vi når systemet ikke bør brukes?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Praktisk sjekkliste etter innføring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Re-evaluer ytelse over tid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Se etter endringer i pasientgrunnlag og praksis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Samle tilbakemeldinger fra brukere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Oppdater eller stopp løsninger som ikke fungerer godt nok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Mini-case 2: generativ AI lager pasientbrevutkast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kan være nyttig i et slikt verktøy?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må alltid kontrolleres manuelt?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kan feil oppstå?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Hvordan kan dette brukes uten å svekke kvalitet og tillit?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Tre ting klinikere bør ta med seg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kan være nyttig, men må brukes med forståelse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God ytelse er ikke nok uten klinisk kontekst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Kritiske spørsmål er en del av faglig ansvar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Tre ting organisasjoner bør ta med seg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Implementering handler om mer enn teknologi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Arbeidsflyt, opplæring og ansvar er avgjørende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Trygg bruk krever monitorering, ikke bare lansering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Hvordan bruke repoet videre etter forelesningen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Start med uke 1 for begreper og oversikt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 uke 4 for generativ AI og uke 6 for klinisk beslutningsstøtte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 uke 8 når dere vil arbeide med etikk, regulering og trustworthy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 | uke04-generativ-ai/README.md | uke06-klinisk-praksis/README.md | uke08-etikk-implementering/README.md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Spørsmål til diskusjon i salen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ser dere størst nytte i egen praksis?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ser dere størst risiko?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ville dere krevd å få vite før dere stolte på et AI-system?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Mulige neste steg etter forelesningen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Velg én notebook og utforsk den i Google Colab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Diskuter et konkret klinisk AI-case i eget fagmiljø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 kursets sjekklister når nye AI-verktøy vurderes lokalt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docs/index.html | docs/for-undervisere.html | docs/ressurser.html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Takk for oppmerksomheten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i helse bør ikke bare imponere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Den bør forstås, vurderes og brukes ansvarlig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 er et klinisk og faglig arbeid, ikke bare et teknologisk prosjekt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https://arvidl.github.io/AI-og-helse/ | https://github.com/arvidl/AI-og-helse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2711</Words>
  <Application>Microsoft Macintosh PowerPoint</Application>
  <PresentationFormat>Widescreen</PresentationFormat>
  <Paragraphs>402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Arvid Lundervold</cp:lastModifiedBy>
  <cp:revision>2</cp:revision>
  <dcterms:created xsi:type="dcterms:W3CDTF">2013-01-27T09:14:16Z</dcterms:created>
  <dcterms:modified xsi:type="dcterms:W3CDTF">2026-03-31T21:06:28Z</dcterms:modified>
  <cp:category/>
</cp:coreProperties>
</file>